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94" r:id="rId2"/>
  </p:sldIdLst>
  <p:sldSz cx="379476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19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F9BADC-6C55-AE27-6E6C-0C69E7C0B40B}" name="Kreuser, Abigail" initials="AK" userId="S::akreuser@email.sc.edu::b252602e-40af-4f6d-9626-a4e86e570bd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8E08C"/>
    <a:srgbClr val="2DC6DB"/>
    <a:srgbClr val="4A9E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45"/>
    <p:restoredTop sz="96301"/>
  </p:normalViewPr>
  <p:slideViewPr>
    <p:cSldViewPr snapToGrid="0">
      <p:cViewPr varScale="1">
        <p:scale>
          <a:sx n="11" d="100"/>
          <a:sy n="11" d="100"/>
        </p:scale>
        <p:origin x="2004" y="276"/>
      </p:cViewPr>
      <p:guideLst>
        <p:guide orient="horz" pos="13824"/>
        <p:guide pos="119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ADAEDF-C432-F940-80D9-152C2E89E045}" type="datetimeFigureOut">
              <a:rPr lang="en-US" smtClean="0"/>
              <a:t>5/27/2026</a:t>
            </a:fld>
            <a:endParaRPr lang="en-US"/>
          </a:p>
        </p:txBody>
      </p:sp>
      <p:sp>
        <p:nvSpPr>
          <p:cNvPr id="4" name="Slide Image Placeholder 3"/>
          <p:cNvSpPr>
            <a:spLocks noGrp="1" noRot="1" noChangeAspect="1"/>
          </p:cNvSpPr>
          <p:nvPr>
            <p:ph type="sldImg" idx="2"/>
          </p:nvPr>
        </p:nvSpPr>
        <p:spPr>
          <a:xfrm>
            <a:off x="2095500" y="1143000"/>
            <a:ext cx="2667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EDFD0B-F12F-324C-BB9E-09BEE4172AC6}" type="slidenum">
              <a:rPr lang="en-US" smtClean="0"/>
              <a:t>‹#›</a:t>
            </a:fld>
            <a:endParaRPr lang="en-US"/>
          </a:p>
        </p:txBody>
      </p:sp>
    </p:spTree>
    <p:extLst>
      <p:ext uri="{BB962C8B-B14F-4D97-AF65-F5344CB8AC3E}">
        <p14:creationId xmlns:p14="http://schemas.microsoft.com/office/powerpoint/2010/main" val="683786284"/>
      </p:ext>
    </p:extLst>
  </p:cSld>
  <p:clrMap bg1="lt1" tx1="dk1" bg2="lt2" tx2="dk2" accent1="accent1" accent2="accent2" accent3="accent3" accent4="accent4" accent5="accent5" accent6="accent6" hlink="hlink" folHlink="folHlink"/>
  <p:notesStyle>
    <a:lvl1pPr marL="0" algn="l" defTabSz="4086243" rtl="0" eaLnBrk="1" latinLnBrk="0" hangingPunct="1">
      <a:defRPr sz="5363" kern="1200">
        <a:solidFill>
          <a:schemeClr val="tx1"/>
        </a:solidFill>
        <a:latin typeface="+mn-lt"/>
        <a:ea typeface="+mn-ea"/>
        <a:cs typeface="+mn-cs"/>
      </a:defRPr>
    </a:lvl1pPr>
    <a:lvl2pPr marL="2043122" algn="l" defTabSz="4086243" rtl="0" eaLnBrk="1" latinLnBrk="0" hangingPunct="1">
      <a:defRPr sz="5363" kern="1200">
        <a:solidFill>
          <a:schemeClr val="tx1"/>
        </a:solidFill>
        <a:latin typeface="+mn-lt"/>
        <a:ea typeface="+mn-ea"/>
        <a:cs typeface="+mn-cs"/>
      </a:defRPr>
    </a:lvl2pPr>
    <a:lvl3pPr marL="4086243" algn="l" defTabSz="4086243" rtl="0" eaLnBrk="1" latinLnBrk="0" hangingPunct="1">
      <a:defRPr sz="5363" kern="1200">
        <a:solidFill>
          <a:schemeClr val="tx1"/>
        </a:solidFill>
        <a:latin typeface="+mn-lt"/>
        <a:ea typeface="+mn-ea"/>
        <a:cs typeface="+mn-cs"/>
      </a:defRPr>
    </a:lvl3pPr>
    <a:lvl4pPr marL="6129365" algn="l" defTabSz="4086243" rtl="0" eaLnBrk="1" latinLnBrk="0" hangingPunct="1">
      <a:defRPr sz="5363" kern="1200">
        <a:solidFill>
          <a:schemeClr val="tx1"/>
        </a:solidFill>
        <a:latin typeface="+mn-lt"/>
        <a:ea typeface="+mn-ea"/>
        <a:cs typeface="+mn-cs"/>
      </a:defRPr>
    </a:lvl4pPr>
    <a:lvl5pPr marL="8172487" algn="l" defTabSz="4086243" rtl="0" eaLnBrk="1" latinLnBrk="0" hangingPunct="1">
      <a:defRPr sz="5363" kern="1200">
        <a:solidFill>
          <a:schemeClr val="tx1"/>
        </a:solidFill>
        <a:latin typeface="+mn-lt"/>
        <a:ea typeface="+mn-ea"/>
        <a:cs typeface="+mn-cs"/>
      </a:defRPr>
    </a:lvl5pPr>
    <a:lvl6pPr marL="10215609" algn="l" defTabSz="4086243" rtl="0" eaLnBrk="1" latinLnBrk="0" hangingPunct="1">
      <a:defRPr sz="5363" kern="1200">
        <a:solidFill>
          <a:schemeClr val="tx1"/>
        </a:solidFill>
        <a:latin typeface="+mn-lt"/>
        <a:ea typeface="+mn-ea"/>
        <a:cs typeface="+mn-cs"/>
      </a:defRPr>
    </a:lvl6pPr>
    <a:lvl7pPr marL="12258730" algn="l" defTabSz="4086243" rtl="0" eaLnBrk="1" latinLnBrk="0" hangingPunct="1">
      <a:defRPr sz="5363" kern="1200">
        <a:solidFill>
          <a:schemeClr val="tx1"/>
        </a:solidFill>
        <a:latin typeface="+mn-lt"/>
        <a:ea typeface="+mn-ea"/>
        <a:cs typeface="+mn-cs"/>
      </a:defRPr>
    </a:lvl7pPr>
    <a:lvl8pPr marL="14301852" algn="l" defTabSz="4086243" rtl="0" eaLnBrk="1" latinLnBrk="0" hangingPunct="1">
      <a:defRPr sz="5363" kern="1200">
        <a:solidFill>
          <a:schemeClr val="tx1"/>
        </a:solidFill>
        <a:latin typeface="+mn-lt"/>
        <a:ea typeface="+mn-ea"/>
        <a:cs typeface="+mn-cs"/>
      </a:defRPr>
    </a:lvl8pPr>
    <a:lvl9pPr marL="16344973" algn="l" defTabSz="4086243" rtl="0" eaLnBrk="1" latinLnBrk="0" hangingPunct="1">
      <a:defRPr sz="536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46070" y="7183124"/>
            <a:ext cx="32255460" cy="15280640"/>
          </a:xfrm>
        </p:spPr>
        <p:txBody>
          <a:bodyPr anchor="b"/>
          <a:lstStyle>
            <a:lvl1pPr algn="ctr">
              <a:defRPr sz="24900"/>
            </a:lvl1pPr>
          </a:lstStyle>
          <a:p>
            <a:r>
              <a:rPr lang="en-US"/>
              <a:t>Click to edit Master title style</a:t>
            </a:r>
            <a:endParaRPr lang="en-US" dirty="0"/>
          </a:p>
        </p:txBody>
      </p:sp>
      <p:sp>
        <p:nvSpPr>
          <p:cNvPr id="3" name="Subtitle 2"/>
          <p:cNvSpPr>
            <a:spLocks noGrp="1"/>
          </p:cNvSpPr>
          <p:nvPr>
            <p:ph type="subTitle" idx="1"/>
          </p:nvPr>
        </p:nvSpPr>
        <p:spPr>
          <a:xfrm>
            <a:off x="4743450" y="23053044"/>
            <a:ext cx="28460700" cy="10596877"/>
          </a:xfrm>
        </p:spPr>
        <p:txBody>
          <a:bodyPr/>
          <a:lstStyle>
            <a:lvl1pPr marL="0" indent="0" algn="ctr">
              <a:buNone/>
              <a:defRPr sz="9960"/>
            </a:lvl1pPr>
            <a:lvl2pPr marL="1897380" indent="0" algn="ctr">
              <a:buNone/>
              <a:defRPr sz="8300"/>
            </a:lvl2pPr>
            <a:lvl3pPr marL="3794760" indent="0" algn="ctr">
              <a:buNone/>
              <a:defRPr sz="7470"/>
            </a:lvl3pPr>
            <a:lvl4pPr marL="5692140" indent="0" algn="ctr">
              <a:buNone/>
              <a:defRPr sz="6640"/>
            </a:lvl4pPr>
            <a:lvl5pPr marL="7589520" indent="0" algn="ctr">
              <a:buNone/>
              <a:defRPr sz="6640"/>
            </a:lvl5pPr>
            <a:lvl6pPr marL="9486900" indent="0" algn="ctr">
              <a:buNone/>
              <a:defRPr sz="6640"/>
            </a:lvl6pPr>
            <a:lvl7pPr marL="11384280" indent="0" algn="ctr">
              <a:buNone/>
              <a:defRPr sz="6640"/>
            </a:lvl7pPr>
            <a:lvl8pPr marL="13281660" indent="0" algn="ctr">
              <a:buNone/>
              <a:defRPr sz="6640"/>
            </a:lvl8pPr>
            <a:lvl9pPr marL="15179040" indent="0" algn="ctr">
              <a:buNone/>
              <a:defRPr sz="66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F0D819-4CB5-0744-84B4-3F1037B59AF2}"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2153101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F0D819-4CB5-0744-84B4-3F1037B59AF2}"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2866554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137" y="10942334"/>
            <a:ext cx="32729805" cy="18257517"/>
          </a:xfrm>
        </p:spPr>
        <p:txBody>
          <a:bodyPr anchor="b"/>
          <a:lstStyle>
            <a:lvl1pPr>
              <a:defRPr sz="24900"/>
            </a:lvl1pPr>
          </a:lstStyle>
          <a:p>
            <a:r>
              <a:rPr lang="en-US"/>
              <a:t>Click to edit Master title style</a:t>
            </a:r>
            <a:endParaRPr lang="en-US" dirty="0"/>
          </a:p>
        </p:txBody>
      </p:sp>
      <p:sp>
        <p:nvSpPr>
          <p:cNvPr id="3" name="Text Placeholder 2"/>
          <p:cNvSpPr>
            <a:spLocks noGrp="1"/>
          </p:cNvSpPr>
          <p:nvPr>
            <p:ph type="body" idx="1"/>
          </p:nvPr>
        </p:nvSpPr>
        <p:spPr>
          <a:xfrm>
            <a:off x="2589137" y="29372574"/>
            <a:ext cx="32729805" cy="9601197"/>
          </a:xfrm>
        </p:spPr>
        <p:txBody>
          <a:bodyPr/>
          <a:lstStyle>
            <a:lvl1pPr marL="0" indent="0">
              <a:buNone/>
              <a:defRPr sz="9960">
                <a:solidFill>
                  <a:schemeClr val="tx1"/>
                </a:solidFill>
              </a:defRPr>
            </a:lvl1pPr>
            <a:lvl2pPr marL="1897380" indent="0">
              <a:buNone/>
              <a:defRPr sz="8300">
                <a:solidFill>
                  <a:schemeClr val="tx1">
                    <a:tint val="75000"/>
                  </a:schemeClr>
                </a:solidFill>
              </a:defRPr>
            </a:lvl2pPr>
            <a:lvl3pPr marL="3794760" indent="0">
              <a:buNone/>
              <a:defRPr sz="7470">
                <a:solidFill>
                  <a:schemeClr val="tx1">
                    <a:tint val="75000"/>
                  </a:schemeClr>
                </a:solidFill>
              </a:defRPr>
            </a:lvl3pPr>
            <a:lvl4pPr marL="5692140" indent="0">
              <a:buNone/>
              <a:defRPr sz="6640">
                <a:solidFill>
                  <a:schemeClr val="tx1">
                    <a:tint val="75000"/>
                  </a:schemeClr>
                </a:solidFill>
              </a:defRPr>
            </a:lvl4pPr>
            <a:lvl5pPr marL="7589520" indent="0">
              <a:buNone/>
              <a:defRPr sz="6640">
                <a:solidFill>
                  <a:schemeClr val="tx1">
                    <a:tint val="75000"/>
                  </a:schemeClr>
                </a:solidFill>
              </a:defRPr>
            </a:lvl5pPr>
            <a:lvl6pPr marL="9486900" indent="0">
              <a:buNone/>
              <a:defRPr sz="6640">
                <a:solidFill>
                  <a:schemeClr val="tx1">
                    <a:tint val="75000"/>
                  </a:schemeClr>
                </a:solidFill>
              </a:defRPr>
            </a:lvl6pPr>
            <a:lvl7pPr marL="11384280" indent="0">
              <a:buNone/>
              <a:defRPr sz="6640">
                <a:solidFill>
                  <a:schemeClr val="tx1">
                    <a:tint val="75000"/>
                  </a:schemeClr>
                </a:solidFill>
              </a:defRPr>
            </a:lvl7pPr>
            <a:lvl8pPr marL="13281660" indent="0">
              <a:buNone/>
              <a:defRPr sz="6640">
                <a:solidFill>
                  <a:schemeClr val="tx1">
                    <a:tint val="75000"/>
                  </a:schemeClr>
                </a:solidFill>
              </a:defRPr>
            </a:lvl8pPr>
            <a:lvl9pPr marL="15179040" indent="0">
              <a:buNone/>
              <a:defRPr sz="66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F0D819-4CB5-0744-84B4-3F1037B59AF2}"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486835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08898" y="11684000"/>
            <a:ext cx="1612773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210973" y="11684000"/>
            <a:ext cx="1612773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F0D819-4CB5-0744-84B4-3F1037B59AF2}"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416910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13842" y="2336811"/>
            <a:ext cx="32729805"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13846" y="10759444"/>
            <a:ext cx="16053611" cy="5273037"/>
          </a:xfrm>
        </p:spPr>
        <p:txBody>
          <a:bodyPr anchor="b"/>
          <a:lstStyle>
            <a:lvl1pPr marL="0" indent="0">
              <a:buNone/>
              <a:defRPr sz="9960" b="1"/>
            </a:lvl1pPr>
            <a:lvl2pPr marL="1897380" indent="0">
              <a:buNone/>
              <a:defRPr sz="8300" b="1"/>
            </a:lvl2pPr>
            <a:lvl3pPr marL="3794760" indent="0">
              <a:buNone/>
              <a:defRPr sz="7470" b="1"/>
            </a:lvl3pPr>
            <a:lvl4pPr marL="5692140" indent="0">
              <a:buNone/>
              <a:defRPr sz="6640" b="1"/>
            </a:lvl4pPr>
            <a:lvl5pPr marL="7589520" indent="0">
              <a:buNone/>
              <a:defRPr sz="6640" b="1"/>
            </a:lvl5pPr>
            <a:lvl6pPr marL="9486900" indent="0">
              <a:buNone/>
              <a:defRPr sz="6640" b="1"/>
            </a:lvl6pPr>
            <a:lvl7pPr marL="11384280" indent="0">
              <a:buNone/>
              <a:defRPr sz="6640" b="1"/>
            </a:lvl7pPr>
            <a:lvl8pPr marL="13281660" indent="0">
              <a:buNone/>
              <a:defRPr sz="6640" b="1"/>
            </a:lvl8pPr>
            <a:lvl9pPr marL="15179040" indent="0">
              <a:buNone/>
              <a:defRPr sz="6640" b="1"/>
            </a:lvl9pPr>
          </a:lstStyle>
          <a:p>
            <a:pPr lvl="0"/>
            <a:r>
              <a:rPr lang="en-US"/>
              <a:t>Click to edit Master text styles</a:t>
            </a:r>
          </a:p>
        </p:txBody>
      </p:sp>
      <p:sp>
        <p:nvSpPr>
          <p:cNvPr id="4" name="Content Placeholder 3"/>
          <p:cNvSpPr>
            <a:spLocks noGrp="1"/>
          </p:cNvSpPr>
          <p:nvPr>
            <p:ph sz="half" idx="2"/>
          </p:nvPr>
        </p:nvSpPr>
        <p:spPr>
          <a:xfrm>
            <a:off x="2613846" y="16032480"/>
            <a:ext cx="16053611"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210976" y="10759444"/>
            <a:ext cx="16132673" cy="5273037"/>
          </a:xfrm>
        </p:spPr>
        <p:txBody>
          <a:bodyPr anchor="b"/>
          <a:lstStyle>
            <a:lvl1pPr marL="0" indent="0">
              <a:buNone/>
              <a:defRPr sz="9960" b="1"/>
            </a:lvl1pPr>
            <a:lvl2pPr marL="1897380" indent="0">
              <a:buNone/>
              <a:defRPr sz="8300" b="1"/>
            </a:lvl2pPr>
            <a:lvl3pPr marL="3794760" indent="0">
              <a:buNone/>
              <a:defRPr sz="7470" b="1"/>
            </a:lvl3pPr>
            <a:lvl4pPr marL="5692140" indent="0">
              <a:buNone/>
              <a:defRPr sz="6640" b="1"/>
            </a:lvl4pPr>
            <a:lvl5pPr marL="7589520" indent="0">
              <a:buNone/>
              <a:defRPr sz="6640" b="1"/>
            </a:lvl5pPr>
            <a:lvl6pPr marL="9486900" indent="0">
              <a:buNone/>
              <a:defRPr sz="6640" b="1"/>
            </a:lvl6pPr>
            <a:lvl7pPr marL="11384280" indent="0">
              <a:buNone/>
              <a:defRPr sz="6640" b="1"/>
            </a:lvl7pPr>
            <a:lvl8pPr marL="13281660" indent="0">
              <a:buNone/>
              <a:defRPr sz="6640" b="1"/>
            </a:lvl8pPr>
            <a:lvl9pPr marL="15179040" indent="0">
              <a:buNone/>
              <a:defRPr sz="6640" b="1"/>
            </a:lvl9pPr>
          </a:lstStyle>
          <a:p>
            <a:pPr lvl="0"/>
            <a:r>
              <a:rPr lang="en-US"/>
              <a:t>Click to edit Master text styles</a:t>
            </a:r>
          </a:p>
        </p:txBody>
      </p:sp>
      <p:sp>
        <p:nvSpPr>
          <p:cNvPr id="6" name="Content Placeholder 5"/>
          <p:cNvSpPr>
            <a:spLocks noGrp="1"/>
          </p:cNvSpPr>
          <p:nvPr>
            <p:ph sz="quarter" idx="4"/>
          </p:nvPr>
        </p:nvSpPr>
        <p:spPr>
          <a:xfrm>
            <a:off x="19210976" y="16032480"/>
            <a:ext cx="161326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F0D819-4CB5-0744-84B4-3F1037B59AF2}"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4238817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F0D819-4CB5-0744-84B4-3F1037B59AF2}"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126817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F0D819-4CB5-0744-84B4-3F1037B59AF2}"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4932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13842" y="2926080"/>
            <a:ext cx="12239089" cy="10241280"/>
          </a:xfrm>
        </p:spPr>
        <p:txBody>
          <a:bodyPr anchor="b"/>
          <a:lstStyle>
            <a:lvl1pPr>
              <a:defRPr sz="13280"/>
            </a:lvl1pPr>
          </a:lstStyle>
          <a:p>
            <a:r>
              <a:rPr lang="en-US"/>
              <a:t>Click to edit Master title style</a:t>
            </a:r>
            <a:endParaRPr lang="en-US" dirty="0"/>
          </a:p>
        </p:txBody>
      </p:sp>
      <p:sp>
        <p:nvSpPr>
          <p:cNvPr id="3" name="Content Placeholder 2"/>
          <p:cNvSpPr>
            <a:spLocks noGrp="1"/>
          </p:cNvSpPr>
          <p:nvPr>
            <p:ph idx="1"/>
          </p:nvPr>
        </p:nvSpPr>
        <p:spPr>
          <a:xfrm>
            <a:off x="16132674" y="6319530"/>
            <a:ext cx="19210973" cy="31191200"/>
          </a:xfrm>
        </p:spPr>
        <p:txBody>
          <a:bodyPr/>
          <a:lstStyle>
            <a:lvl1pPr>
              <a:defRPr sz="13280"/>
            </a:lvl1pPr>
            <a:lvl2pPr>
              <a:defRPr sz="11620"/>
            </a:lvl2pPr>
            <a:lvl3pPr>
              <a:defRPr sz="9960"/>
            </a:lvl3pPr>
            <a:lvl4pPr>
              <a:defRPr sz="8300"/>
            </a:lvl4pPr>
            <a:lvl5pPr>
              <a:defRPr sz="8300"/>
            </a:lvl5pPr>
            <a:lvl6pPr>
              <a:defRPr sz="8300"/>
            </a:lvl6pPr>
            <a:lvl7pPr>
              <a:defRPr sz="8300"/>
            </a:lvl7pPr>
            <a:lvl8pPr>
              <a:defRPr sz="8300"/>
            </a:lvl8pPr>
            <a:lvl9pPr>
              <a:defRPr sz="8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13842" y="13167361"/>
            <a:ext cx="12239089" cy="24394163"/>
          </a:xfrm>
        </p:spPr>
        <p:txBody>
          <a:bodyPr/>
          <a:lstStyle>
            <a:lvl1pPr marL="0" indent="0">
              <a:buNone/>
              <a:defRPr sz="6640"/>
            </a:lvl1pPr>
            <a:lvl2pPr marL="1897380" indent="0">
              <a:buNone/>
              <a:defRPr sz="5810"/>
            </a:lvl2pPr>
            <a:lvl3pPr marL="3794760" indent="0">
              <a:buNone/>
              <a:defRPr sz="4980"/>
            </a:lvl3pPr>
            <a:lvl4pPr marL="5692140" indent="0">
              <a:buNone/>
              <a:defRPr sz="4150"/>
            </a:lvl4pPr>
            <a:lvl5pPr marL="7589520" indent="0">
              <a:buNone/>
              <a:defRPr sz="4150"/>
            </a:lvl5pPr>
            <a:lvl6pPr marL="9486900" indent="0">
              <a:buNone/>
              <a:defRPr sz="4150"/>
            </a:lvl6pPr>
            <a:lvl7pPr marL="11384280" indent="0">
              <a:buNone/>
              <a:defRPr sz="4150"/>
            </a:lvl7pPr>
            <a:lvl8pPr marL="13281660" indent="0">
              <a:buNone/>
              <a:defRPr sz="4150"/>
            </a:lvl8pPr>
            <a:lvl9pPr marL="15179040" indent="0">
              <a:buNone/>
              <a:defRPr sz="4150"/>
            </a:lvl9pPr>
          </a:lstStyle>
          <a:p>
            <a:pPr lvl="0"/>
            <a:r>
              <a:rPr lang="en-US"/>
              <a:t>Click to edit Master text styles</a:t>
            </a:r>
          </a:p>
        </p:txBody>
      </p:sp>
      <p:sp>
        <p:nvSpPr>
          <p:cNvPr id="5" name="Date Placeholder 4"/>
          <p:cNvSpPr>
            <a:spLocks noGrp="1"/>
          </p:cNvSpPr>
          <p:nvPr>
            <p:ph type="dt" sz="half" idx="10"/>
          </p:nvPr>
        </p:nvSpPr>
        <p:spPr/>
        <p:txBody>
          <a:bodyPr/>
          <a:lstStyle/>
          <a:p>
            <a:fld id="{50F0D819-4CB5-0744-84B4-3F1037B59AF2}"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356714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13842" y="2926080"/>
            <a:ext cx="12239089" cy="10241280"/>
          </a:xfrm>
        </p:spPr>
        <p:txBody>
          <a:bodyPr anchor="b"/>
          <a:lstStyle>
            <a:lvl1pPr>
              <a:defRPr sz="132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132674" y="6319530"/>
            <a:ext cx="19210973" cy="31191200"/>
          </a:xfrm>
        </p:spPr>
        <p:txBody>
          <a:bodyPr anchor="t"/>
          <a:lstStyle>
            <a:lvl1pPr marL="0" indent="0">
              <a:buNone/>
              <a:defRPr sz="13280"/>
            </a:lvl1pPr>
            <a:lvl2pPr marL="1897380" indent="0">
              <a:buNone/>
              <a:defRPr sz="11620"/>
            </a:lvl2pPr>
            <a:lvl3pPr marL="3794760" indent="0">
              <a:buNone/>
              <a:defRPr sz="9960"/>
            </a:lvl3pPr>
            <a:lvl4pPr marL="5692140" indent="0">
              <a:buNone/>
              <a:defRPr sz="8300"/>
            </a:lvl4pPr>
            <a:lvl5pPr marL="7589520" indent="0">
              <a:buNone/>
              <a:defRPr sz="8300"/>
            </a:lvl5pPr>
            <a:lvl6pPr marL="9486900" indent="0">
              <a:buNone/>
              <a:defRPr sz="8300"/>
            </a:lvl6pPr>
            <a:lvl7pPr marL="11384280" indent="0">
              <a:buNone/>
              <a:defRPr sz="8300"/>
            </a:lvl7pPr>
            <a:lvl8pPr marL="13281660" indent="0">
              <a:buNone/>
              <a:defRPr sz="8300"/>
            </a:lvl8pPr>
            <a:lvl9pPr marL="15179040" indent="0">
              <a:buNone/>
              <a:defRPr sz="8300"/>
            </a:lvl9pPr>
          </a:lstStyle>
          <a:p>
            <a:r>
              <a:rPr lang="en-US"/>
              <a:t>Click icon to add picture</a:t>
            </a:r>
            <a:endParaRPr lang="en-US" dirty="0"/>
          </a:p>
        </p:txBody>
      </p:sp>
      <p:sp>
        <p:nvSpPr>
          <p:cNvPr id="4" name="Text Placeholder 3"/>
          <p:cNvSpPr>
            <a:spLocks noGrp="1"/>
          </p:cNvSpPr>
          <p:nvPr>
            <p:ph type="body" sz="half" idx="2"/>
          </p:nvPr>
        </p:nvSpPr>
        <p:spPr>
          <a:xfrm>
            <a:off x="2613842" y="13167361"/>
            <a:ext cx="12239089" cy="24394163"/>
          </a:xfrm>
        </p:spPr>
        <p:txBody>
          <a:bodyPr/>
          <a:lstStyle>
            <a:lvl1pPr marL="0" indent="0">
              <a:buNone/>
              <a:defRPr sz="6640"/>
            </a:lvl1pPr>
            <a:lvl2pPr marL="1897380" indent="0">
              <a:buNone/>
              <a:defRPr sz="5810"/>
            </a:lvl2pPr>
            <a:lvl3pPr marL="3794760" indent="0">
              <a:buNone/>
              <a:defRPr sz="4980"/>
            </a:lvl3pPr>
            <a:lvl4pPr marL="5692140" indent="0">
              <a:buNone/>
              <a:defRPr sz="4150"/>
            </a:lvl4pPr>
            <a:lvl5pPr marL="7589520" indent="0">
              <a:buNone/>
              <a:defRPr sz="4150"/>
            </a:lvl5pPr>
            <a:lvl6pPr marL="9486900" indent="0">
              <a:buNone/>
              <a:defRPr sz="4150"/>
            </a:lvl6pPr>
            <a:lvl7pPr marL="11384280" indent="0">
              <a:buNone/>
              <a:defRPr sz="4150"/>
            </a:lvl7pPr>
            <a:lvl8pPr marL="13281660" indent="0">
              <a:buNone/>
              <a:defRPr sz="4150"/>
            </a:lvl8pPr>
            <a:lvl9pPr marL="15179040" indent="0">
              <a:buNone/>
              <a:defRPr sz="4150"/>
            </a:lvl9pPr>
          </a:lstStyle>
          <a:p>
            <a:pPr lvl="0"/>
            <a:r>
              <a:rPr lang="en-US"/>
              <a:t>Click to edit Master text styles</a:t>
            </a:r>
          </a:p>
        </p:txBody>
      </p:sp>
      <p:sp>
        <p:nvSpPr>
          <p:cNvPr id="5" name="Date Placeholder 4"/>
          <p:cNvSpPr>
            <a:spLocks noGrp="1"/>
          </p:cNvSpPr>
          <p:nvPr>
            <p:ph type="dt" sz="half" idx="10"/>
          </p:nvPr>
        </p:nvSpPr>
        <p:spPr/>
        <p:txBody>
          <a:bodyPr/>
          <a:lstStyle/>
          <a:p>
            <a:fld id="{50F0D819-4CB5-0744-84B4-3F1037B59AF2}"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2302594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F0D819-4CB5-0744-84B4-3F1037B59AF2}"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165470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156255" y="2336801"/>
            <a:ext cx="8182451"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08901" y="2336801"/>
            <a:ext cx="24073009"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F0D819-4CB5-0744-84B4-3F1037B59AF2}"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E85E6-5D60-1146-8C65-9FB2E7FFCC8C}" type="slidenum">
              <a:rPr lang="en-US" smtClean="0"/>
              <a:t>‹#›</a:t>
            </a:fld>
            <a:endParaRPr lang="en-US"/>
          </a:p>
        </p:txBody>
      </p:sp>
    </p:spTree>
    <p:extLst>
      <p:ext uri="{BB962C8B-B14F-4D97-AF65-F5344CB8AC3E}">
        <p14:creationId xmlns:p14="http://schemas.microsoft.com/office/powerpoint/2010/main" val="249526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08900" y="2336811"/>
            <a:ext cx="32729805"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08900" y="11684000"/>
            <a:ext cx="32729805"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08898" y="40680650"/>
            <a:ext cx="8538210" cy="2336800"/>
          </a:xfrm>
          <a:prstGeom prst="rect">
            <a:avLst/>
          </a:prstGeom>
        </p:spPr>
        <p:txBody>
          <a:bodyPr vert="horz" lIns="91440" tIns="45720" rIns="91440" bIns="45720" rtlCol="0" anchor="ctr"/>
          <a:lstStyle>
            <a:lvl1pPr algn="l">
              <a:defRPr sz="4980">
                <a:solidFill>
                  <a:schemeClr val="tx1">
                    <a:tint val="75000"/>
                  </a:schemeClr>
                </a:solidFill>
              </a:defRPr>
            </a:lvl1pPr>
          </a:lstStyle>
          <a:p>
            <a:fld id="{50F0D819-4CB5-0744-84B4-3F1037B59AF2}" type="datetimeFigureOut">
              <a:rPr lang="en-US" smtClean="0"/>
              <a:t>5/27/2026</a:t>
            </a:fld>
            <a:endParaRPr lang="en-US"/>
          </a:p>
        </p:txBody>
      </p:sp>
      <p:sp>
        <p:nvSpPr>
          <p:cNvPr id="5" name="Footer Placeholder 4"/>
          <p:cNvSpPr>
            <a:spLocks noGrp="1"/>
          </p:cNvSpPr>
          <p:nvPr>
            <p:ph type="ftr" sz="quarter" idx="3"/>
          </p:nvPr>
        </p:nvSpPr>
        <p:spPr>
          <a:xfrm>
            <a:off x="12570145" y="40680650"/>
            <a:ext cx="12807315" cy="2336800"/>
          </a:xfrm>
          <a:prstGeom prst="rect">
            <a:avLst/>
          </a:prstGeom>
        </p:spPr>
        <p:txBody>
          <a:bodyPr vert="horz" lIns="91440" tIns="45720" rIns="91440" bIns="45720" rtlCol="0" anchor="ctr"/>
          <a:lstStyle>
            <a:lvl1pPr algn="ctr">
              <a:defRPr sz="49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6800493" y="40680650"/>
            <a:ext cx="8538210" cy="2336800"/>
          </a:xfrm>
          <a:prstGeom prst="rect">
            <a:avLst/>
          </a:prstGeom>
        </p:spPr>
        <p:txBody>
          <a:bodyPr vert="horz" lIns="91440" tIns="45720" rIns="91440" bIns="45720" rtlCol="0" anchor="ctr"/>
          <a:lstStyle>
            <a:lvl1pPr algn="r">
              <a:defRPr sz="4980">
                <a:solidFill>
                  <a:schemeClr val="tx1">
                    <a:tint val="75000"/>
                  </a:schemeClr>
                </a:solidFill>
              </a:defRPr>
            </a:lvl1pPr>
          </a:lstStyle>
          <a:p>
            <a:fld id="{B27E85E6-5D60-1146-8C65-9FB2E7FFCC8C}" type="slidenum">
              <a:rPr lang="en-US" smtClean="0"/>
              <a:t>‹#›</a:t>
            </a:fld>
            <a:endParaRPr lang="en-US"/>
          </a:p>
        </p:txBody>
      </p:sp>
    </p:spTree>
    <p:extLst>
      <p:ext uri="{BB962C8B-B14F-4D97-AF65-F5344CB8AC3E}">
        <p14:creationId xmlns:p14="http://schemas.microsoft.com/office/powerpoint/2010/main" val="350209485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794760" rtl="0" eaLnBrk="1" latinLnBrk="0" hangingPunct="1">
        <a:lnSpc>
          <a:spcPct val="90000"/>
        </a:lnSpc>
        <a:spcBef>
          <a:spcPct val="0"/>
        </a:spcBef>
        <a:buNone/>
        <a:defRPr sz="18260" kern="1200">
          <a:solidFill>
            <a:schemeClr val="tx1"/>
          </a:solidFill>
          <a:latin typeface="+mj-lt"/>
          <a:ea typeface="+mj-ea"/>
          <a:cs typeface="+mj-cs"/>
        </a:defRPr>
      </a:lvl1pPr>
    </p:titleStyle>
    <p:bodyStyle>
      <a:lvl1pPr marL="948690" indent="-948690" algn="l" defTabSz="3794760" rtl="0" eaLnBrk="1" latinLnBrk="0" hangingPunct="1">
        <a:lnSpc>
          <a:spcPct val="90000"/>
        </a:lnSpc>
        <a:spcBef>
          <a:spcPts val="4150"/>
        </a:spcBef>
        <a:buFont typeface="Arial" panose="020B0604020202020204" pitchFamily="34" charset="0"/>
        <a:buChar char="•"/>
        <a:defRPr sz="11620" kern="1200">
          <a:solidFill>
            <a:schemeClr val="tx1"/>
          </a:solidFill>
          <a:latin typeface="+mn-lt"/>
          <a:ea typeface="+mn-ea"/>
          <a:cs typeface="+mn-cs"/>
        </a:defRPr>
      </a:lvl1pPr>
      <a:lvl2pPr marL="2846070" indent="-948690" algn="l" defTabSz="3794760" rtl="0" eaLnBrk="1" latinLnBrk="0" hangingPunct="1">
        <a:lnSpc>
          <a:spcPct val="90000"/>
        </a:lnSpc>
        <a:spcBef>
          <a:spcPts val="2075"/>
        </a:spcBef>
        <a:buFont typeface="Arial" panose="020B0604020202020204" pitchFamily="34" charset="0"/>
        <a:buChar char="•"/>
        <a:defRPr sz="9960" kern="1200">
          <a:solidFill>
            <a:schemeClr val="tx1"/>
          </a:solidFill>
          <a:latin typeface="+mn-lt"/>
          <a:ea typeface="+mn-ea"/>
          <a:cs typeface="+mn-cs"/>
        </a:defRPr>
      </a:lvl2pPr>
      <a:lvl3pPr marL="4743450" indent="-948690" algn="l" defTabSz="3794760" rtl="0" eaLnBrk="1" latinLnBrk="0" hangingPunct="1">
        <a:lnSpc>
          <a:spcPct val="90000"/>
        </a:lnSpc>
        <a:spcBef>
          <a:spcPts val="2075"/>
        </a:spcBef>
        <a:buFont typeface="Arial" panose="020B0604020202020204" pitchFamily="34" charset="0"/>
        <a:buChar char="•"/>
        <a:defRPr sz="8300" kern="1200">
          <a:solidFill>
            <a:schemeClr val="tx1"/>
          </a:solidFill>
          <a:latin typeface="+mn-lt"/>
          <a:ea typeface="+mn-ea"/>
          <a:cs typeface="+mn-cs"/>
        </a:defRPr>
      </a:lvl3pPr>
      <a:lvl4pPr marL="664083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4pPr>
      <a:lvl5pPr marL="853821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5pPr>
      <a:lvl6pPr marL="1043559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6pPr>
      <a:lvl7pPr marL="1233297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7pPr>
      <a:lvl8pPr marL="1423035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8pPr>
      <a:lvl9pPr marL="16127730" indent="-948690" algn="l" defTabSz="3794760" rtl="0" eaLnBrk="1" latinLnBrk="0" hangingPunct="1">
        <a:lnSpc>
          <a:spcPct val="90000"/>
        </a:lnSpc>
        <a:spcBef>
          <a:spcPts val="2075"/>
        </a:spcBef>
        <a:buFont typeface="Arial" panose="020B0604020202020204" pitchFamily="34" charset="0"/>
        <a:buChar char="•"/>
        <a:defRPr sz="7470" kern="1200">
          <a:solidFill>
            <a:schemeClr val="tx1"/>
          </a:solidFill>
          <a:latin typeface="+mn-lt"/>
          <a:ea typeface="+mn-ea"/>
          <a:cs typeface="+mn-cs"/>
        </a:defRPr>
      </a:lvl9pPr>
    </p:bodyStyle>
    <p:otherStyle>
      <a:defPPr>
        <a:defRPr lang="en-US"/>
      </a:defPPr>
      <a:lvl1pPr marL="0" algn="l" defTabSz="3794760" rtl="0" eaLnBrk="1" latinLnBrk="0" hangingPunct="1">
        <a:defRPr sz="7470" kern="1200">
          <a:solidFill>
            <a:schemeClr val="tx1"/>
          </a:solidFill>
          <a:latin typeface="+mn-lt"/>
          <a:ea typeface="+mn-ea"/>
          <a:cs typeface="+mn-cs"/>
        </a:defRPr>
      </a:lvl1pPr>
      <a:lvl2pPr marL="1897380" algn="l" defTabSz="3794760" rtl="0" eaLnBrk="1" latinLnBrk="0" hangingPunct="1">
        <a:defRPr sz="7470" kern="1200">
          <a:solidFill>
            <a:schemeClr val="tx1"/>
          </a:solidFill>
          <a:latin typeface="+mn-lt"/>
          <a:ea typeface="+mn-ea"/>
          <a:cs typeface="+mn-cs"/>
        </a:defRPr>
      </a:lvl2pPr>
      <a:lvl3pPr marL="3794760" algn="l" defTabSz="3794760" rtl="0" eaLnBrk="1" latinLnBrk="0" hangingPunct="1">
        <a:defRPr sz="7470" kern="1200">
          <a:solidFill>
            <a:schemeClr val="tx1"/>
          </a:solidFill>
          <a:latin typeface="+mn-lt"/>
          <a:ea typeface="+mn-ea"/>
          <a:cs typeface="+mn-cs"/>
        </a:defRPr>
      </a:lvl3pPr>
      <a:lvl4pPr marL="5692140" algn="l" defTabSz="3794760" rtl="0" eaLnBrk="1" latinLnBrk="0" hangingPunct="1">
        <a:defRPr sz="7470" kern="1200">
          <a:solidFill>
            <a:schemeClr val="tx1"/>
          </a:solidFill>
          <a:latin typeface="+mn-lt"/>
          <a:ea typeface="+mn-ea"/>
          <a:cs typeface="+mn-cs"/>
        </a:defRPr>
      </a:lvl4pPr>
      <a:lvl5pPr marL="7589520" algn="l" defTabSz="3794760" rtl="0" eaLnBrk="1" latinLnBrk="0" hangingPunct="1">
        <a:defRPr sz="7470" kern="1200">
          <a:solidFill>
            <a:schemeClr val="tx1"/>
          </a:solidFill>
          <a:latin typeface="+mn-lt"/>
          <a:ea typeface="+mn-ea"/>
          <a:cs typeface="+mn-cs"/>
        </a:defRPr>
      </a:lvl5pPr>
      <a:lvl6pPr marL="9486900" algn="l" defTabSz="3794760" rtl="0" eaLnBrk="1" latinLnBrk="0" hangingPunct="1">
        <a:defRPr sz="7470" kern="1200">
          <a:solidFill>
            <a:schemeClr val="tx1"/>
          </a:solidFill>
          <a:latin typeface="+mn-lt"/>
          <a:ea typeface="+mn-ea"/>
          <a:cs typeface="+mn-cs"/>
        </a:defRPr>
      </a:lvl6pPr>
      <a:lvl7pPr marL="11384280" algn="l" defTabSz="3794760" rtl="0" eaLnBrk="1" latinLnBrk="0" hangingPunct="1">
        <a:defRPr sz="7470" kern="1200">
          <a:solidFill>
            <a:schemeClr val="tx1"/>
          </a:solidFill>
          <a:latin typeface="+mn-lt"/>
          <a:ea typeface="+mn-ea"/>
          <a:cs typeface="+mn-cs"/>
        </a:defRPr>
      </a:lvl7pPr>
      <a:lvl8pPr marL="13281660" algn="l" defTabSz="3794760" rtl="0" eaLnBrk="1" latinLnBrk="0" hangingPunct="1">
        <a:defRPr sz="7470" kern="1200">
          <a:solidFill>
            <a:schemeClr val="tx1"/>
          </a:solidFill>
          <a:latin typeface="+mn-lt"/>
          <a:ea typeface="+mn-ea"/>
          <a:cs typeface="+mn-cs"/>
        </a:defRPr>
      </a:lvl8pPr>
      <a:lvl9pPr marL="15179040" algn="l" defTabSz="3794760" rtl="0" eaLnBrk="1" latinLnBrk="0" hangingPunct="1">
        <a:defRPr sz="7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jp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2DEBA-B525-A249-2739-C880D2635AC9}"/>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41D1DACA-33B3-EDE9-634A-7DD7CD7C743B}"/>
              </a:ext>
            </a:extLst>
          </p:cNvPr>
          <p:cNvSpPr>
            <a:spLocks/>
          </p:cNvSpPr>
          <p:nvPr/>
        </p:nvSpPr>
        <p:spPr>
          <a:xfrm>
            <a:off x="-180340" y="0"/>
            <a:ext cx="38315900" cy="437515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DCC8DF9-F01D-AC6F-0007-B08DFEEF77F3}"/>
              </a:ext>
            </a:extLst>
          </p:cNvPr>
          <p:cNvSpPr>
            <a:spLocks/>
          </p:cNvSpPr>
          <p:nvPr/>
        </p:nvSpPr>
        <p:spPr>
          <a:xfrm>
            <a:off x="228600" y="383540"/>
            <a:ext cx="37490400" cy="42976800"/>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5" name="TextBox 4">
            <a:extLst>
              <a:ext uri="{FF2B5EF4-FFF2-40B4-BE49-F238E27FC236}">
                <a16:creationId xmlns:a16="http://schemas.microsoft.com/office/drawing/2014/main" id="{7CAABD8F-64A8-D0CF-661D-3668DC78DF67}"/>
              </a:ext>
            </a:extLst>
          </p:cNvPr>
          <p:cNvSpPr txBox="1"/>
          <p:nvPr/>
        </p:nvSpPr>
        <p:spPr>
          <a:xfrm>
            <a:off x="6918801" y="1331218"/>
            <a:ext cx="24351414" cy="3724096"/>
          </a:xfrm>
          <a:prstGeom prst="rect">
            <a:avLst/>
          </a:prstGeom>
          <a:noFill/>
        </p:spPr>
        <p:txBody>
          <a:bodyPr wrap="square" rtlCol="0">
            <a:spAutoFit/>
          </a:bodyPr>
          <a:lstStyle/>
          <a:p>
            <a:pPr algn="ctr"/>
            <a:r>
              <a:rPr lang="en-US" sz="5400" b="1" dirty="0">
                <a:latin typeface="Yu Gothic UI" panose="020B0500000000000000" pitchFamily="34" charset="-128"/>
                <a:ea typeface="Yu Gothic UI" panose="020B0500000000000000" pitchFamily="34" charset="-128"/>
              </a:rPr>
              <a:t>Lessons from Real-Time and Archival Acoustic Detections of North Atlantic Right Whales in the Southeast US across Three Types of Platforms</a:t>
            </a:r>
            <a:endParaRPr lang="en-US" sz="23900" dirty="0">
              <a:latin typeface="Yu Gothic UI" panose="020B0500000000000000" pitchFamily="34" charset="-128"/>
              <a:ea typeface="Yu Gothic UI" panose="020B0500000000000000" pitchFamily="34" charset="-128"/>
            </a:endParaRPr>
          </a:p>
          <a:p>
            <a:br>
              <a:rPr lang="en-US" sz="6600" dirty="0"/>
            </a:br>
            <a:endParaRPr lang="en-US" sz="6200" b="1" dirty="0">
              <a:solidFill>
                <a:srgbClr val="000000"/>
              </a:solidFill>
              <a:latin typeface="Yu Gothic UI" panose="020B0500000000000000" pitchFamily="34" charset="-128"/>
              <a:ea typeface="Yu Gothic UI" panose="020B0500000000000000" pitchFamily="34" charset="-128"/>
            </a:endParaRPr>
          </a:p>
        </p:txBody>
      </p:sp>
      <p:sp>
        <p:nvSpPr>
          <p:cNvPr id="6" name="TextBox 5">
            <a:extLst>
              <a:ext uri="{FF2B5EF4-FFF2-40B4-BE49-F238E27FC236}">
                <a16:creationId xmlns:a16="http://schemas.microsoft.com/office/drawing/2014/main" id="{FF11330A-9ADC-8209-C1E9-6465758E78C9}"/>
              </a:ext>
            </a:extLst>
          </p:cNvPr>
          <p:cNvSpPr txBox="1"/>
          <p:nvPr/>
        </p:nvSpPr>
        <p:spPr>
          <a:xfrm>
            <a:off x="4848569" y="3433336"/>
            <a:ext cx="28491878" cy="1735860"/>
          </a:xfrm>
          <a:prstGeom prst="rect">
            <a:avLst/>
          </a:prstGeom>
          <a:noFill/>
        </p:spPr>
        <p:txBody>
          <a:bodyPr wrap="square" rtlCol="0">
            <a:spAutoFit/>
          </a:bodyPr>
          <a:lstStyle/>
          <a:p>
            <a:pPr algn="ctr"/>
            <a:r>
              <a:rPr lang="en-US" sz="5340" dirty="0">
                <a:latin typeface="Yu Gothic UI" panose="020B0500000000000000" pitchFamily="34" charset="-128"/>
                <a:ea typeface="Yu Gothic UI" panose="020B0500000000000000" pitchFamily="34" charset="-128"/>
                <a:cs typeface="Times New Roman" panose="02020603050405020304" pitchFamily="18" charset="0"/>
              </a:rPr>
              <a:t>Soraya S. Remaili</a:t>
            </a:r>
            <a:r>
              <a:rPr lang="en-US" sz="5340" baseline="30000" dirty="0">
                <a:latin typeface="Yu Gothic UI" panose="020B0500000000000000" pitchFamily="34" charset="-128"/>
                <a:ea typeface="Yu Gothic UI" panose="020B0500000000000000" pitchFamily="34" charset="-128"/>
                <a:cs typeface="Times New Roman" panose="02020603050405020304" pitchFamily="18" charset="0"/>
              </a:rPr>
              <a:t>1</a:t>
            </a:r>
            <a:r>
              <a:rPr lang="en-US" sz="5340" dirty="0">
                <a:latin typeface="Yu Gothic UI" panose="020B0500000000000000" pitchFamily="34" charset="-128"/>
                <a:ea typeface="Yu Gothic UI" panose="020B0500000000000000" pitchFamily="34" charset="-128"/>
                <a:cs typeface="Times New Roman" panose="02020603050405020304" pitchFamily="18" charset="0"/>
              </a:rPr>
              <a:t>, Abigail M. Kreuser</a:t>
            </a:r>
            <a:r>
              <a:rPr lang="en-US" sz="5340" baseline="30000" dirty="0">
                <a:latin typeface="Yu Gothic UI" panose="020B0500000000000000" pitchFamily="34" charset="-128"/>
                <a:ea typeface="Yu Gothic UI" panose="020B0500000000000000" pitchFamily="34" charset="-128"/>
                <a:cs typeface="Times New Roman" panose="02020603050405020304" pitchFamily="18" charset="0"/>
              </a:rPr>
              <a:t>1</a:t>
            </a:r>
            <a:r>
              <a:rPr lang="en-US" sz="5340" dirty="0">
                <a:latin typeface="Yu Gothic UI" panose="020B0500000000000000" pitchFamily="34" charset="-128"/>
                <a:ea typeface="Yu Gothic UI" panose="020B0500000000000000" pitchFamily="34" charset="-128"/>
                <a:cs typeface="Times New Roman" panose="02020603050405020304" pitchFamily="18" charset="0"/>
              </a:rPr>
              <a:t>, </a:t>
            </a:r>
            <a:r>
              <a:rPr lang="en-US" sz="5340" dirty="0" err="1">
                <a:latin typeface="Yu Gothic UI" panose="020B0500000000000000" pitchFamily="34" charset="-128"/>
                <a:ea typeface="Yu Gothic UI" panose="020B0500000000000000" pitchFamily="34" charset="-128"/>
                <a:cs typeface="Times New Roman" panose="02020603050405020304" pitchFamily="18" charset="0"/>
              </a:rPr>
              <a:t>Amadi</a:t>
            </a:r>
            <a:r>
              <a:rPr lang="en-US" sz="5340" dirty="0">
                <a:latin typeface="Yu Gothic UI" panose="020B0500000000000000" pitchFamily="34" charset="-128"/>
                <a:ea typeface="Yu Gothic UI" panose="020B0500000000000000" pitchFamily="34" charset="-128"/>
                <a:cs typeface="Times New Roman" panose="02020603050405020304" pitchFamily="18" charset="0"/>
              </a:rPr>
              <a:t> A. Sefah-Twerefour</a:t>
            </a:r>
            <a:r>
              <a:rPr lang="en-US" sz="5340" baseline="30000" dirty="0">
                <a:latin typeface="Yu Gothic UI" panose="020B0500000000000000" pitchFamily="34" charset="-128"/>
                <a:ea typeface="Yu Gothic UI" panose="020B0500000000000000" pitchFamily="34" charset="-128"/>
                <a:cs typeface="Times New Roman" panose="02020603050405020304" pitchFamily="18" charset="0"/>
              </a:rPr>
              <a:t>1</a:t>
            </a:r>
            <a:r>
              <a:rPr lang="en-US" sz="5340" dirty="0">
                <a:latin typeface="Yu Gothic UI" panose="020B0500000000000000" pitchFamily="34" charset="-128"/>
                <a:ea typeface="Yu Gothic UI" panose="020B0500000000000000" pitchFamily="34" charset="-128"/>
                <a:cs typeface="Times New Roman" panose="02020603050405020304" pitchFamily="18" charset="0"/>
              </a:rPr>
              <a:t>, </a:t>
            </a:r>
          </a:p>
          <a:p>
            <a:pPr algn="ctr"/>
            <a:r>
              <a:rPr lang="en-US" sz="5340" dirty="0">
                <a:latin typeface="Yu Gothic UI" panose="020B0500000000000000" pitchFamily="34" charset="-128"/>
                <a:ea typeface="Yu Gothic UI" panose="020B0500000000000000" pitchFamily="34" charset="-128"/>
                <a:cs typeface="Times New Roman" panose="02020603050405020304" pitchFamily="18" charset="0"/>
              </a:rPr>
              <a:t>Erin L. Meyer-Gutbrod</a:t>
            </a:r>
            <a:r>
              <a:rPr lang="en-US" sz="5340" baseline="30000" dirty="0">
                <a:latin typeface="Yu Gothic UI" panose="020B0500000000000000" pitchFamily="34" charset="-128"/>
                <a:ea typeface="Yu Gothic UI" panose="020B0500000000000000" pitchFamily="34" charset="-128"/>
                <a:cs typeface="Times New Roman" panose="02020603050405020304" pitchFamily="18" charset="0"/>
              </a:rPr>
              <a:t>1</a:t>
            </a:r>
            <a:r>
              <a:rPr lang="en-US" sz="5340" dirty="0">
                <a:latin typeface="Yu Gothic UI" panose="020B0500000000000000" pitchFamily="34" charset="-128"/>
                <a:ea typeface="Yu Gothic UI" panose="020B0500000000000000" pitchFamily="34" charset="-128"/>
                <a:cs typeface="Times New Roman" panose="02020603050405020304" pitchFamily="18" charset="0"/>
              </a:rPr>
              <a:t>, Catherine R. Edwards</a:t>
            </a:r>
            <a:r>
              <a:rPr lang="en-US" sz="5340" baseline="30000" dirty="0">
                <a:latin typeface="Yu Gothic UI" panose="020B0500000000000000" pitchFamily="34" charset="-128"/>
                <a:ea typeface="Yu Gothic UI" panose="020B0500000000000000" pitchFamily="34" charset="-128"/>
                <a:cs typeface="Times New Roman" panose="02020603050405020304" pitchFamily="18" charset="0"/>
              </a:rPr>
              <a:t>2</a:t>
            </a:r>
          </a:p>
        </p:txBody>
      </p:sp>
      <p:sp>
        <p:nvSpPr>
          <p:cNvPr id="7" name="TextBox 6">
            <a:extLst>
              <a:ext uri="{FF2B5EF4-FFF2-40B4-BE49-F238E27FC236}">
                <a16:creationId xmlns:a16="http://schemas.microsoft.com/office/drawing/2014/main" id="{A37EBA87-732E-30C7-010A-4F265BBF5F96}"/>
              </a:ext>
            </a:extLst>
          </p:cNvPr>
          <p:cNvSpPr txBox="1"/>
          <p:nvPr/>
        </p:nvSpPr>
        <p:spPr>
          <a:xfrm>
            <a:off x="7490184" y="4630531"/>
            <a:ext cx="22645498" cy="1643527"/>
          </a:xfrm>
          <a:prstGeom prst="rect">
            <a:avLst/>
          </a:prstGeom>
          <a:noFill/>
        </p:spPr>
        <p:txBody>
          <a:bodyPr wrap="square" rtlCol="0">
            <a:spAutoFit/>
          </a:bodyPr>
          <a:lstStyle/>
          <a:p>
            <a:pPr algn="ctr"/>
            <a:br>
              <a:rPr lang="en-US" sz="3360" dirty="0">
                <a:latin typeface="Yu Gothic UI" panose="020B0500000000000000" pitchFamily="34" charset="-128"/>
                <a:ea typeface="Yu Gothic UI" panose="020B0500000000000000" pitchFamily="34" charset="-128"/>
                <a:cs typeface="Times New Roman" panose="02020603050405020304" pitchFamily="18" charset="0"/>
              </a:rPr>
            </a:br>
            <a:r>
              <a:rPr lang="en-US" sz="3360" baseline="30000" dirty="0">
                <a:latin typeface="Yu Gothic UI" panose="020B0500000000000000" pitchFamily="34" charset="-128"/>
                <a:ea typeface="Yu Gothic UI" panose="020B0500000000000000" pitchFamily="34" charset="-128"/>
                <a:cs typeface="Times New Roman" panose="02020603050405020304" pitchFamily="18" charset="0"/>
              </a:rPr>
              <a:t>1</a:t>
            </a:r>
            <a:r>
              <a:rPr lang="en-US" sz="3360" dirty="0">
                <a:latin typeface="Yu Gothic UI" panose="020B0500000000000000" pitchFamily="34" charset="-128"/>
                <a:ea typeface="Yu Gothic UI" panose="020B0500000000000000" pitchFamily="34" charset="-128"/>
                <a:cs typeface="Times New Roman" panose="02020603050405020304" pitchFamily="18" charset="0"/>
              </a:rPr>
              <a:t>School of the Earth, Ocean and Environment, University of South Carolina, Columbia, SC 29208  </a:t>
            </a:r>
          </a:p>
          <a:p>
            <a:pPr algn="ctr"/>
            <a:r>
              <a:rPr lang="en-US" sz="3360" baseline="30000" dirty="0">
                <a:latin typeface="Yu Gothic UI" panose="020B0500000000000000" pitchFamily="34" charset="-128"/>
                <a:ea typeface="Yu Gothic UI" panose="020B0500000000000000" pitchFamily="34" charset="-128"/>
                <a:cs typeface="Times New Roman" panose="02020603050405020304" pitchFamily="18" charset="0"/>
              </a:rPr>
              <a:t>2</a:t>
            </a:r>
            <a:r>
              <a:rPr lang="en-US" sz="3360" dirty="0">
                <a:latin typeface="Yu Gothic UI" panose="020B0500000000000000" pitchFamily="34" charset="-128"/>
                <a:ea typeface="Yu Gothic UI" panose="020B0500000000000000" pitchFamily="34" charset="-128"/>
                <a:cs typeface="Times New Roman" panose="02020603050405020304" pitchFamily="18" charset="0"/>
              </a:rPr>
              <a:t>Skidaway Institute of Oceanography, Department of Marine Sciences, University of Georgia, Savannah, GA 31411</a:t>
            </a:r>
          </a:p>
        </p:txBody>
      </p:sp>
      <p:sp>
        <p:nvSpPr>
          <p:cNvPr id="9" name="TextBox 8">
            <a:extLst>
              <a:ext uri="{FF2B5EF4-FFF2-40B4-BE49-F238E27FC236}">
                <a16:creationId xmlns:a16="http://schemas.microsoft.com/office/drawing/2014/main" id="{5F4240A1-D03F-0792-9503-EF8FCA295AD5}"/>
              </a:ext>
            </a:extLst>
          </p:cNvPr>
          <p:cNvSpPr txBox="1"/>
          <p:nvPr/>
        </p:nvSpPr>
        <p:spPr>
          <a:xfrm>
            <a:off x="1261621" y="7618701"/>
            <a:ext cx="12868746" cy="13234392"/>
          </a:xfrm>
          <a:prstGeom prst="rect">
            <a:avLst/>
          </a:prstGeom>
          <a:noFill/>
          <a:ln>
            <a:noFill/>
          </a:ln>
        </p:spPr>
        <p:txBody>
          <a:bodyPr wrap="square" rtlCol="0">
            <a:spAutoFit/>
          </a:bodyPr>
          <a:lstStyle/>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The critically endangered North Atlantic right whale (NARW) migrates seasonally along the US East coast to their winter calving grounds in the Southeast US.</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In the shallow waters off the coasts of South Carolina, Georgia, and Florida, NARWs nurse, rest, and socialize near the surface, exposing whales and calves to a high risk of ship strike.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In NARW’s northern foraging grounds, real-time passive acoustic monitoring (PAM) using gliders and buoys is being used to inform monitoring efforts and communicate detections with vessel captains and managers to reduce risk of vessel strikes.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In the Southeast US, glider-based PAM may also be a useful monitoring tool for providing 24/7 coverage. However, the unique shallow environment creates uncertainty in the detectability of NARWs.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To better inform the deployment of real-time instruments in this region, we analyzed acoustic data from three different platform types.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Three bottom-mounted, archival hydrophones were deployed at increasing depths (15.9m, 19.5m, 22m) and distances off the coast of Savannah, Georgia, from January-May 2023-2026.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Real-time PAM buoys were deployed off the coasts of Norfolk, Virginia and Savannah, Georgia at the beginning of the 2023 calving season. </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A real-time PAM-equipped Slocum Glider was deployed over 6 approximately 1-month long missions in January-March from 2023-2026.</a:t>
            </a:r>
          </a:p>
          <a:p>
            <a:pPr marL="457200" indent="-457200">
              <a:buFont typeface="Arial" panose="020B0604020202020204" pitchFamily="34" charset="0"/>
              <a:buChar char="•"/>
            </a:pPr>
            <a:r>
              <a:rPr lang="en-US" sz="3050" dirty="0">
                <a:latin typeface="Yu Gothic UI" panose="020B0500000000000000" pitchFamily="34" charset="-128"/>
                <a:ea typeface="Yu Gothic UI" panose="020B0500000000000000" pitchFamily="34" charset="-128"/>
              </a:rPr>
              <a:t>The Norfolk buoy triggered 17 acoustically-detected Slow Zones over this period, and 2 acoustic right whale detections on the Savannah buoy in January 2026 triggered the first ever acoustic Slow Zone in the South Atlantic Bight. </a:t>
            </a:r>
            <a:br>
              <a:rPr lang="en-US" sz="3050" dirty="0">
                <a:latin typeface="Yu Gothic UI" panose="020B0500000000000000" pitchFamily="34" charset="-128"/>
                <a:ea typeface="Yu Gothic UI" panose="020B0500000000000000" pitchFamily="34" charset="-128"/>
              </a:rPr>
            </a:br>
            <a:endParaRPr lang="en-US" sz="3050" dirty="0">
              <a:solidFill>
                <a:srgbClr val="000000"/>
              </a:solidFill>
              <a:latin typeface="Yu Gothic UI" panose="020B0500000000000000" pitchFamily="34" charset="-128"/>
              <a:ea typeface="Yu Gothic UI" panose="020B0500000000000000" pitchFamily="34" charset="-128"/>
            </a:endParaRPr>
          </a:p>
        </p:txBody>
      </p:sp>
      <p:sp>
        <p:nvSpPr>
          <p:cNvPr id="18" name="TextBox 17">
            <a:extLst>
              <a:ext uri="{FF2B5EF4-FFF2-40B4-BE49-F238E27FC236}">
                <a16:creationId xmlns:a16="http://schemas.microsoft.com/office/drawing/2014/main" id="{69DBA13C-AC1B-6D0F-56DA-D008CB0B4527}"/>
              </a:ext>
            </a:extLst>
          </p:cNvPr>
          <p:cNvSpPr txBox="1"/>
          <p:nvPr/>
        </p:nvSpPr>
        <p:spPr>
          <a:xfrm>
            <a:off x="15377392" y="15347164"/>
            <a:ext cx="11721868" cy="2280753"/>
          </a:xfrm>
          <a:prstGeom prst="rect">
            <a:avLst/>
          </a:prstGeom>
          <a:noFill/>
        </p:spPr>
        <p:txBody>
          <a:bodyPr wrap="square" rtlCol="0">
            <a:spAutoFit/>
          </a:bodyPr>
          <a:lstStyle/>
          <a:p>
            <a:r>
              <a:rPr lang="en-US" sz="2844" b="1" dirty="0">
                <a:latin typeface="Yu Gothic UI" panose="020B0500000000000000" pitchFamily="34" charset="-128"/>
                <a:ea typeface="Yu Gothic UI" panose="020B0500000000000000" pitchFamily="34" charset="-128"/>
              </a:rPr>
              <a:t>Figure 1 &amp; 2.</a:t>
            </a:r>
            <a:r>
              <a:rPr lang="en-US" sz="2844" dirty="0">
                <a:latin typeface="Yu Gothic UI" panose="020B0500000000000000" pitchFamily="34" charset="-128"/>
                <a:ea typeface="Yu Gothic UI" panose="020B0500000000000000" pitchFamily="34" charset="-128"/>
              </a:rPr>
              <a:t> Locations of the bottom-mounted hydrophones (orange points) and the deployment locations of the buoys (from top to bottom, Norfolk, VA, Charleston, SC, and Savannah, GA in red points). The green circle represents the general glider deployment area (right). Glider mission tracks broken up by season (left).</a:t>
            </a:r>
            <a:endParaRPr lang="en-US" sz="1471" dirty="0">
              <a:latin typeface="Yu Gothic UI" panose="020B0500000000000000" pitchFamily="34" charset="-128"/>
              <a:ea typeface="Yu Gothic UI" panose="020B0500000000000000" pitchFamily="34" charset="-128"/>
            </a:endParaRPr>
          </a:p>
        </p:txBody>
      </p:sp>
      <p:sp>
        <p:nvSpPr>
          <p:cNvPr id="25" name="Text Box 8">
            <a:extLst>
              <a:ext uri="{FF2B5EF4-FFF2-40B4-BE49-F238E27FC236}">
                <a16:creationId xmlns:a16="http://schemas.microsoft.com/office/drawing/2014/main" id="{818B1ADA-4BBA-CBC1-A073-E26959930DA6}"/>
              </a:ext>
            </a:extLst>
          </p:cNvPr>
          <p:cNvSpPr txBox="1"/>
          <p:nvPr/>
        </p:nvSpPr>
        <p:spPr>
          <a:xfrm>
            <a:off x="15353140" y="25088680"/>
            <a:ext cx="12176549" cy="1263393"/>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44" b="1" dirty="0">
                <a:latin typeface="Yu Gothic UI" panose="020B0500000000000000" pitchFamily="34" charset="-128"/>
                <a:ea typeface="Yu Gothic UI" panose="020B0500000000000000" pitchFamily="34" charset="-128"/>
                <a:cs typeface="Times New Roman" panose="02020603050405020304" pitchFamily="18" charset="0"/>
              </a:rPr>
              <a:t>Figure 3.</a:t>
            </a:r>
            <a:r>
              <a:rPr lang="en-US" sz="2844" dirty="0">
                <a:latin typeface="Yu Gothic UI" panose="020B0500000000000000" pitchFamily="34" charset="-128"/>
                <a:ea typeface="Yu Gothic UI" panose="020B0500000000000000" pitchFamily="34" charset="-128"/>
                <a:cs typeface="Times New Roman" panose="02020603050405020304" pitchFamily="18" charset="0"/>
              </a:rPr>
              <a:t> (above) Acoustic instrument deployments by calving season years (starting with November).  Colored squares indicate months where the instrument was listening.  Typically, instruments are deployed in the SEUS to coincide with the NARW calving season. </a:t>
            </a:r>
          </a:p>
        </p:txBody>
      </p:sp>
      <p:sp>
        <p:nvSpPr>
          <p:cNvPr id="3" name="AutoShape 2">
            <a:extLst>
              <a:ext uri="{FF2B5EF4-FFF2-40B4-BE49-F238E27FC236}">
                <a16:creationId xmlns:a16="http://schemas.microsoft.com/office/drawing/2014/main" id="{CD85FC1E-07DA-55A3-4B48-7E712561BF34}"/>
              </a:ext>
            </a:extLst>
          </p:cNvPr>
          <p:cNvSpPr>
            <a:spLocks noChangeAspect="1" noChangeArrowheads="1"/>
          </p:cNvSpPr>
          <p:nvPr/>
        </p:nvSpPr>
        <p:spPr bwMode="auto">
          <a:xfrm>
            <a:off x="48002984" y="18263591"/>
            <a:ext cx="270933" cy="270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1280" tIns="40640" rIns="81280" bIns="40640" numCol="1" anchor="t" anchorCtr="0" compatLnSpc="1">
            <a:prstTxWarp prst="textNoShape">
              <a:avLst/>
            </a:prstTxWarp>
          </a:bodyPr>
          <a:lstStyle/>
          <a:p>
            <a:endParaRPr lang="en-US" sz="1471"/>
          </a:p>
        </p:txBody>
      </p:sp>
      <p:sp>
        <p:nvSpPr>
          <p:cNvPr id="38" name="TextBox 37">
            <a:extLst>
              <a:ext uri="{FF2B5EF4-FFF2-40B4-BE49-F238E27FC236}">
                <a16:creationId xmlns:a16="http://schemas.microsoft.com/office/drawing/2014/main" id="{AA600241-D815-69F1-AF9D-4D17E5AE43AB}"/>
              </a:ext>
            </a:extLst>
          </p:cNvPr>
          <p:cNvSpPr txBox="1"/>
          <p:nvPr/>
        </p:nvSpPr>
        <p:spPr>
          <a:xfrm>
            <a:off x="28102560" y="37170180"/>
            <a:ext cx="8306054" cy="5355312"/>
          </a:xfrm>
          <a:prstGeom prst="rect">
            <a:avLst/>
          </a:prstGeom>
          <a:noFill/>
        </p:spPr>
        <p:txBody>
          <a:bodyPr wrap="square" rtlCol="0">
            <a:spAutoFit/>
          </a:bodyPr>
          <a:lstStyle/>
          <a:p>
            <a:r>
              <a:rPr lang="en-US" sz="1900" b="1" dirty="0">
                <a:latin typeface="Yu Gothic UI" panose="020B0500000000000000" pitchFamily="34" charset="-128"/>
                <a:ea typeface="Yu Gothic UI" panose="020B0500000000000000" pitchFamily="34" charset="-128"/>
                <a:cs typeface="Times New Roman" panose="02020603050405020304" pitchFamily="18" charset="0"/>
              </a:rPr>
              <a:t>T</a:t>
            </a:r>
            <a:r>
              <a:rPr lang="en-US" sz="1900" dirty="0">
                <a:latin typeface="Yu Gothic UI" panose="020B0500000000000000" pitchFamily="34" charset="-128"/>
                <a:ea typeface="Yu Gothic UI" panose="020B0500000000000000" pitchFamily="34" charset="-128"/>
                <a:cs typeface="Times New Roman" panose="02020603050405020304" pitchFamily="18" charset="0"/>
              </a:rPr>
              <a:t>his work would not be possible without the efforts and expertise of Mark Baumgartner, Julianne Wilder, James Bird, Frank McQuarrie, Drew Vincent, Ruochu Yang, Ben Hefner, Garrison Hefner, Xavier Giomi, Aiden Gray, and Kristopher Maedke Russell. Assistance in deployment and retrievals was provided by Captain John </a:t>
            </a:r>
            <a:r>
              <a:rPr lang="en-US" sz="1900" dirty="0" err="1">
                <a:latin typeface="Yu Gothic UI" panose="020B0500000000000000" pitchFamily="34" charset="-128"/>
                <a:ea typeface="Yu Gothic UI" panose="020B0500000000000000" pitchFamily="34" charset="-128"/>
                <a:cs typeface="Times New Roman" panose="02020603050405020304" pitchFamily="18" charset="0"/>
              </a:rPr>
              <a:t>Bichy</a:t>
            </a:r>
            <a:r>
              <a:rPr lang="en-US" sz="1900" dirty="0">
                <a:latin typeface="Yu Gothic UI" panose="020B0500000000000000" pitchFamily="34" charset="-128"/>
                <a:ea typeface="Yu Gothic UI" panose="020B0500000000000000" pitchFamily="34" charset="-128"/>
                <a:cs typeface="Times New Roman" panose="02020603050405020304" pitchFamily="18" charset="0"/>
              </a:rPr>
              <a:t>, Captain Terrel Scarboro, Captain Kevin Hunnicutt, Captain Francis </a:t>
            </a:r>
            <a:r>
              <a:rPr lang="en-US" sz="1900" dirty="0" err="1">
                <a:latin typeface="Yu Gothic UI" panose="020B0500000000000000" pitchFamily="34" charset="-128"/>
                <a:ea typeface="Yu Gothic UI" panose="020B0500000000000000" pitchFamily="34" charset="-128"/>
                <a:cs typeface="Times New Roman" panose="02020603050405020304" pitchFamily="18" charset="0"/>
              </a:rPr>
              <a:t>Lapolla</a:t>
            </a:r>
            <a:r>
              <a:rPr lang="en-US" sz="1900" dirty="0">
                <a:latin typeface="Yu Gothic UI" panose="020B0500000000000000" pitchFamily="34" charset="-128"/>
                <a:ea typeface="Yu Gothic UI" panose="020B0500000000000000" pitchFamily="34" charset="-128"/>
                <a:cs typeface="Times New Roman" panose="02020603050405020304" pitchFamily="18" charset="0"/>
              </a:rPr>
              <a:t>, and our diver team Allison </a:t>
            </a:r>
            <a:r>
              <a:rPr lang="en-US" sz="1900" dirty="0" err="1">
                <a:latin typeface="Yu Gothic UI" panose="020B0500000000000000" pitchFamily="34" charset="-128"/>
                <a:ea typeface="Yu Gothic UI" panose="020B0500000000000000" pitchFamily="34" charset="-128"/>
                <a:cs typeface="Times New Roman" panose="02020603050405020304" pitchFamily="18" charset="0"/>
              </a:rPr>
              <a:t>Soss</a:t>
            </a:r>
            <a:r>
              <a:rPr lang="en-US" sz="1900" dirty="0">
                <a:latin typeface="Yu Gothic UI" panose="020B0500000000000000" pitchFamily="34" charset="-128"/>
                <a:ea typeface="Yu Gothic UI" panose="020B0500000000000000" pitchFamily="34" charset="-128"/>
                <a:cs typeface="Times New Roman" panose="02020603050405020304" pitchFamily="18" charset="0"/>
              </a:rPr>
              <a:t> and Randy Rudd. </a:t>
            </a:r>
          </a:p>
          <a:p>
            <a:endParaRPr lang="en-US" sz="1900" u="sng" dirty="0">
              <a:solidFill>
                <a:srgbClr val="555F66"/>
              </a:solidFill>
              <a:latin typeface="Yu Gothic UI" panose="020B0500000000000000" pitchFamily="34" charset="-128"/>
              <a:ea typeface="Yu Gothic UI" panose="020B0500000000000000" pitchFamily="34" charset="-128"/>
              <a:cs typeface="Times New Roman" panose="02020603050405020304" pitchFamily="18" charset="0"/>
            </a:endParaRPr>
          </a:p>
          <a:p>
            <a:r>
              <a:rPr lang="en-US" sz="1900" b="1" dirty="0">
                <a:latin typeface="Yu Gothic UI" panose="020B0500000000000000" pitchFamily="34" charset="-128"/>
                <a:ea typeface="Yu Gothic UI" panose="020B0500000000000000" pitchFamily="34" charset="-128"/>
                <a:cs typeface="Times New Roman" panose="02020603050405020304" pitchFamily="18" charset="0"/>
              </a:rPr>
              <a:t>Funding:</a:t>
            </a:r>
            <a:r>
              <a:rPr lang="en-US" sz="1900" dirty="0">
                <a:latin typeface="Yu Gothic UI" panose="020B0500000000000000" pitchFamily="34" charset="-128"/>
                <a:ea typeface="Yu Gothic UI" panose="020B0500000000000000" pitchFamily="34" charset="-128"/>
                <a:cs typeface="Times New Roman" panose="02020603050405020304" pitchFamily="18" charset="0"/>
              </a:rPr>
              <a:t> Tides Foundation, </a:t>
            </a:r>
            <a:r>
              <a:rPr lang="en-US" sz="1900" dirty="0">
                <a:solidFill>
                  <a:srgbClr val="000000"/>
                </a:solidFill>
                <a:latin typeface="Yu Gothic UI" panose="020B0500000000000000" pitchFamily="34" charset="-128"/>
                <a:ea typeface="Yu Gothic UI" panose="020B0500000000000000" pitchFamily="34" charset="-128"/>
              </a:rPr>
              <a:t>Maine Community Foundation, Broad Reach Fund, </a:t>
            </a:r>
            <a:r>
              <a:rPr lang="en-US" sz="1900" dirty="0">
                <a:latin typeface="Yu Gothic UI" panose="020B0500000000000000" pitchFamily="34" charset="-128"/>
                <a:ea typeface="Yu Gothic UI" panose="020B0500000000000000" pitchFamily="34" charset="-128"/>
                <a:cs typeface="Times New Roman" panose="02020603050405020304" pitchFamily="18" charset="0"/>
              </a:rPr>
              <a:t>USC ASPIRE &amp; SECOORA, NOAA, CMA CGM</a:t>
            </a:r>
          </a:p>
          <a:p>
            <a:endParaRPr lang="en-US" sz="1900" u="sng" dirty="0">
              <a:solidFill>
                <a:srgbClr val="555F66"/>
              </a:solidFill>
              <a:highlight>
                <a:srgbClr val="FFFF00"/>
              </a:highlight>
              <a:latin typeface="Yu Gothic UI" panose="020B0500000000000000" pitchFamily="34" charset="-128"/>
              <a:ea typeface="Yu Gothic UI" panose="020B0500000000000000" pitchFamily="34" charset="-128"/>
              <a:cs typeface="Times New Roman" panose="02020603050405020304" pitchFamily="18" charset="0"/>
            </a:endParaRPr>
          </a:p>
          <a:p>
            <a:r>
              <a:rPr lang="en-US" sz="1900" b="1" dirty="0">
                <a:latin typeface="Yu Gothic UI" panose="020B0500000000000000" pitchFamily="34" charset="-128"/>
                <a:ea typeface="Yu Gothic UI" panose="020B0500000000000000" pitchFamily="34" charset="-128"/>
                <a:cs typeface="Times New Roman" panose="02020603050405020304" pitchFamily="18" charset="0"/>
              </a:rPr>
              <a:t>References:</a:t>
            </a:r>
          </a:p>
          <a:p>
            <a:r>
              <a:rPr lang="en-US" sz="1900" dirty="0">
                <a:latin typeface="Yu Gothic UI" panose="020B0500000000000000" pitchFamily="34" charset="-128"/>
                <a:ea typeface="Yu Gothic UI" panose="020B0500000000000000" pitchFamily="34" charset="-128"/>
                <a:cs typeface="Times New Roman" panose="02020603050405020304" pitchFamily="18" charset="0"/>
              </a:rPr>
              <a:t>Johnson H, Morrison D, Taggart C (2021). </a:t>
            </a:r>
            <a:r>
              <a:rPr lang="en-US" sz="1900" dirty="0" err="1">
                <a:latin typeface="Yu Gothic UI" panose="020B0500000000000000" pitchFamily="34" charset="-128"/>
                <a:ea typeface="Yu Gothic UI" panose="020B0500000000000000" pitchFamily="34" charset="-128"/>
                <a:cs typeface="Times New Roman" panose="02020603050405020304" pitchFamily="18" charset="0"/>
              </a:rPr>
              <a:t>WhaleMap</a:t>
            </a:r>
            <a:r>
              <a:rPr lang="en-US" sz="1900" dirty="0">
                <a:latin typeface="Yu Gothic UI" panose="020B0500000000000000" pitchFamily="34" charset="-128"/>
                <a:ea typeface="Yu Gothic UI" panose="020B0500000000000000" pitchFamily="34" charset="-128"/>
                <a:cs typeface="Times New Roman" panose="02020603050405020304" pitchFamily="18" charset="0"/>
              </a:rPr>
              <a:t>: a tool to collate and display whale survey results in near real-time. Journal of Open Source Software, 6(62), 3094.</a:t>
            </a:r>
          </a:p>
          <a:p>
            <a:r>
              <a:rPr lang="en-US" sz="1900" dirty="0">
                <a:solidFill>
                  <a:srgbClr val="000000"/>
                </a:solidFill>
                <a:latin typeface="Yu Gothic UI" panose="020B0500000000000000" pitchFamily="34" charset="-128"/>
                <a:ea typeface="Yu Gothic UI" panose="020B0500000000000000" pitchFamily="34" charset="-128"/>
                <a:cs typeface="Times New Roman" panose="02020603050405020304" pitchFamily="18" charset="0"/>
              </a:rPr>
              <a:t>Baumgartner, M.F. and S.E. </a:t>
            </a:r>
            <a:r>
              <a:rPr lang="en-US" sz="1900" dirty="0" err="1">
                <a:solidFill>
                  <a:srgbClr val="000000"/>
                </a:solidFill>
                <a:latin typeface="Yu Gothic UI" panose="020B0500000000000000" pitchFamily="34" charset="-128"/>
                <a:ea typeface="Yu Gothic UI" panose="020B0500000000000000" pitchFamily="34" charset="-128"/>
                <a:cs typeface="Times New Roman" panose="02020603050405020304" pitchFamily="18" charset="0"/>
              </a:rPr>
              <a:t>Mussoline</a:t>
            </a:r>
            <a:r>
              <a:rPr lang="en-US" sz="1900" dirty="0">
                <a:solidFill>
                  <a:srgbClr val="000000"/>
                </a:solidFill>
                <a:latin typeface="Yu Gothic UI" panose="020B0500000000000000" pitchFamily="34" charset="-128"/>
                <a:ea typeface="Yu Gothic UI" panose="020B0500000000000000" pitchFamily="34" charset="-128"/>
                <a:cs typeface="Times New Roman" panose="02020603050405020304" pitchFamily="18" charset="0"/>
              </a:rPr>
              <a:t>. 2011. A generalized baleen whale call detection and classification system. Journal of the Acoustical Society of America 129:2889-2902.</a:t>
            </a:r>
            <a:endParaRPr lang="en-US" sz="1900" i="1" u="sng" dirty="0">
              <a:latin typeface="Yu Gothic UI" panose="020B0500000000000000" pitchFamily="34" charset="-128"/>
              <a:ea typeface="Yu Gothic UI" panose="020B0500000000000000" pitchFamily="34" charset="-128"/>
              <a:cs typeface="Times New Roman" panose="02020603050405020304" pitchFamily="18" charset="0"/>
            </a:endParaRPr>
          </a:p>
        </p:txBody>
      </p:sp>
      <p:pic>
        <p:nvPicPr>
          <p:cNvPr id="39" name="Picture 8" descr="University of Georgia Logo - Skidaway Institute of Oceanography">
            <a:extLst>
              <a:ext uri="{FF2B5EF4-FFF2-40B4-BE49-F238E27FC236}">
                <a16:creationId xmlns:a16="http://schemas.microsoft.com/office/drawing/2014/main" id="{79D4BF69-AF8F-E38B-EFBE-0FDD61E83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84" y="1293634"/>
            <a:ext cx="5649288" cy="154703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A16E83F-5CB1-E26C-DBCB-6487B294C50E}"/>
              </a:ext>
            </a:extLst>
          </p:cNvPr>
          <p:cNvPicPr>
            <a:picLocks noChangeAspect="1"/>
          </p:cNvPicPr>
          <p:nvPr/>
        </p:nvPicPr>
        <p:blipFill>
          <a:blip r:embed="rId3"/>
          <a:stretch>
            <a:fillRect/>
          </a:stretch>
        </p:blipFill>
        <p:spPr>
          <a:xfrm>
            <a:off x="31443667" y="1398892"/>
            <a:ext cx="5988560" cy="1278020"/>
          </a:xfrm>
          <a:prstGeom prst="rect">
            <a:avLst/>
          </a:prstGeom>
        </p:spPr>
      </p:pic>
      <p:sp>
        <p:nvSpPr>
          <p:cNvPr id="43" name="Rectangle 42">
            <a:extLst>
              <a:ext uri="{FF2B5EF4-FFF2-40B4-BE49-F238E27FC236}">
                <a16:creationId xmlns:a16="http://schemas.microsoft.com/office/drawing/2014/main" id="{260A1CD5-6166-8233-8B20-4D609C740151}"/>
              </a:ext>
            </a:extLst>
          </p:cNvPr>
          <p:cNvSpPr/>
          <p:nvPr/>
        </p:nvSpPr>
        <p:spPr>
          <a:xfrm>
            <a:off x="954628" y="7174940"/>
            <a:ext cx="13609732" cy="13374038"/>
          </a:xfrm>
          <a:prstGeom prst="rect">
            <a:avLst/>
          </a:prstGeom>
          <a:noFill/>
          <a:ln w="2540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657A6FA-D787-D1B7-F740-9BF12F373481}"/>
              </a:ext>
            </a:extLst>
          </p:cNvPr>
          <p:cNvSpPr txBox="1"/>
          <p:nvPr/>
        </p:nvSpPr>
        <p:spPr>
          <a:xfrm>
            <a:off x="4538989" y="6667109"/>
            <a:ext cx="6075113" cy="1015663"/>
          </a:xfrm>
          <a:prstGeom prst="rect">
            <a:avLst/>
          </a:prstGeom>
          <a:solidFill>
            <a:schemeClr val="bg1"/>
          </a:solidFill>
          <a:ln>
            <a:noFill/>
          </a:ln>
        </p:spPr>
        <p:txBody>
          <a:bodyPr wrap="square" rtlCol="0">
            <a:spAutoFit/>
          </a:bodyPr>
          <a:lstStyle/>
          <a:p>
            <a:pPr algn="ctr" rtl="0" fontAlgn="base"/>
            <a:r>
              <a:rPr lang="en-US" sz="6000" b="1" dirty="0">
                <a:solidFill>
                  <a:srgbClr val="000000"/>
                </a:solidFill>
                <a:latin typeface="Yu Gothic UI" panose="020B0500000000000000" pitchFamily="34" charset="-128"/>
                <a:ea typeface="Yu Gothic UI" panose="020B0500000000000000" pitchFamily="34" charset="-128"/>
              </a:rPr>
              <a:t>INTRODUCTION</a:t>
            </a:r>
          </a:p>
        </p:txBody>
      </p:sp>
      <p:sp>
        <p:nvSpPr>
          <p:cNvPr id="45" name="TextBox 44">
            <a:extLst>
              <a:ext uri="{FF2B5EF4-FFF2-40B4-BE49-F238E27FC236}">
                <a16:creationId xmlns:a16="http://schemas.microsoft.com/office/drawing/2014/main" id="{4E0B7DC4-02DA-14CE-6668-44FFBAA55433}"/>
              </a:ext>
            </a:extLst>
          </p:cNvPr>
          <p:cNvSpPr txBox="1"/>
          <p:nvPr/>
        </p:nvSpPr>
        <p:spPr>
          <a:xfrm>
            <a:off x="28166060" y="7708171"/>
            <a:ext cx="8623300" cy="10887596"/>
          </a:xfrm>
          <a:prstGeom prst="rect">
            <a:avLst/>
          </a:prstGeom>
          <a:noFill/>
          <a:ln>
            <a:noFill/>
          </a:ln>
        </p:spPr>
        <p:txBody>
          <a:bodyPr wrap="square" rtlCol="0">
            <a:spAutoFit/>
          </a:bodyPr>
          <a:lstStyle/>
          <a:p>
            <a:r>
              <a:rPr lang="en-US" sz="3050" dirty="0">
                <a:latin typeface="Yu Gothic UI" panose="020B0500000000000000" pitchFamily="34" charset="-128"/>
                <a:ea typeface="Yu Gothic UI" panose="020B0500000000000000" pitchFamily="34" charset="-128"/>
                <a:cs typeface="Times New Roman" panose="02020603050405020304" pitchFamily="18" charset="0"/>
              </a:rPr>
              <a:t>A Slocum G3 Glider equipped with a digital acoustic monitoring instrument (DMON2) was deployed for 5 missions off the coast of Georgia (</a:t>
            </a:r>
            <a:r>
              <a:rPr lang="en-US" sz="3050" b="1" dirty="0">
                <a:latin typeface="Yu Gothic UI" panose="020B0500000000000000" pitchFamily="34" charset="-128"/>
                <a:ea typeface="Yu Gothic UI" panose="020B0500000000000000" pitchFamily="34" charset="-128"/>
                <a:cs typeface="Times New Roman" panose="02020603050405020304" pitchFamily="18" charset="0"/>
              </a:rPr>
              <a:t>Fig. 2, 3</a:t>
            </a:r>
            <a:r>
              <a:rPr lang="en-US" sz="3050" dirty="0">
                <a:latin typeface="Yu Gothic UI" panose="020B0500000000000000" pitchFamily="34" charset="-128"/>
                <a:ea typeface="Yu Gothic UI" panose="020B0500000000000000" pitchFamily="34" charset="-128"/>
                <a:cs typeface="Times New Roman" panose="02020603050405020304" pitchFamily="18" charset="0"/>
              </a:rPr>
              <a:t>). The glider was programmed to surface at 4 hour intervals to enable near real-time baleen whale vocalization detections (</a:t>
            </a:r>
            <a:r>
              <a:rPr lang="en-US" sz="3050" b="1" dirty="0">
                <a:latin typeface="Yu Gothic UI" panose="020B0500000000000000" pitchFamily="34" charset="-128"/>
                <a:ea typeface="Yu Gothic UI" panose="020B0500000000000000" pitchFamily="34" charset="-128"/>
                <a:cs typeface="Times New Roman" panose="02020603050405020304" pitchFamily="18" charset="0"/>
              </a:rPr>
              <a:t>Fig 4</a:t>
            </a:r>
            <a:r>
              <a:rPr lang="en-US" sz="3050" dirty="0">
                <a:latin typeface="Yu Gothic UI" panose="020B0500000000000000" pitchFamily="34" charset="-128"/>
                <a:ea typeface="Yu Gothic UI" panose="020B0500000000000000" pitchFamily="34" charset="-128"/>
                <a:cs typeface="Times New Roman" panose="02020603050405020304" pitchFamily="18" charset="0"/>
              </a:rPr>
              <a:t>). Three Ocean Instruments Sound Traps (ST600) were used as bottom-mounted, archival hydrophones and deployed at increasing depths (15.9m, 19.5m, 22m) and increasing distances off the coast of Savannah, Georgia (</a:t>
            </a:r>
            <a:r>
              <a:rPr lang="en-US" sz="3050" b="1" dirty="0">
                <a:latin typeface="Yu Gothic UI" panose="020B0500000000000000" pitchFamily="34" charset="-128"/>
                <a:ea typeface="Yu Gothic UI" panose="020B0500000000000000" pitchFamily="34" charset="-128"/>
                <a:cs typeface="Times New Roman" panose="02020603050405020304" pitchFamily="18" charset="0"/>
              </a:rPr>
              <a:t>Fig. 1, 3)</a:t>
            </a:r>
            <a:r>
              <a:rPr lang="en-US" sz="3050" dirty="0">
                <a:latin typeface="Yu Gothic UI" panose="020B0500000000000000" pitchFamily="34" charset="-128"/>
                <a:ea typeface="Yu Gothic UI" panose="020B0500000000000000" pitchFamily="34" charset="-128"/>
                <a:cs typeface="Times New Roman" panose="02020603050405020304" pitchFamily="18" charset="0"/>
              </a:rPr>
              <a:t>. Additionally, three buoys </a:t>
            </a:r>
            <a:r>
              <a:rPr lang="en-US" sz="3050" b="1" dirty="0">
                <a:latin typeface="Yu Gothic UI" panose="020B0500000000000000" pitchFamily="34" charset="-128"/>
                <a:ea typeface="Yu Gothic UI" panose="020B0500000000000000" pitchFamily="34" charset="-128"/>
                <a:cs typeface="Times New Roman" panose="02020603050405020304" pitchFamily="18" charset="0"/>
              </a:rPr>
              <a:t>(Fig. 1, 3)</a:t>
            </a:r>
            <a:r>
              <a:rPr lang="en-US" sz="3050" dirty="0">
                <a:latin typeface="Yu Gothic UI" panose="020B0500000000000000" pitchFamily="34" charset="-128"/>
                <a:ea typeface="Yu Gothic UI" panose="020B0500000000000000" pitchFamily="34" charset="-128"/>
                <a:cs typeface="Times New Roman" panose="02020603050405020304" pitchFamily="18" charset="0"/>
              </a:rPr>
              <a:t> were deployed off the coast of Norfolk, Charleston, and Savannah.  The low-frequency detection and classification system (LFDCS) was used to identify and classify calls from the real-time acoustic data as well as the archival data. Detections of right whale vocalizations during the deployment period were compared between each of the three bottom-mounted hydrophones and the glider and buoys to inform optimal PAM deployment depth to detect right whales in this region. </a:t>
            </a:r>
          </a:p>
        </p:txBody>
      </p:sp>
      <p:sp>
        <p:nvSpPr>
          <p:cNvPr id="46" name="Rectangle 45">
            <a:extLst>
              <a:ext uri="{FF2B5EF4-FFF2-40B4-BE49-F238E27FC236}">
                <a16:creationId xmlns:a16="http://schemas.microsoft.com/office/drawing/2014/main" id="{AD507034-DA83-0D26-5968-63BA85F5EA14}"/>
              </a:ext>
            </a:extLst>
          </p:cNvPr>
          <p:cNvSpPr/>
          <p:nvPr/>
        </p:nvSpPr>
        <p:spPr>
          <a:xfrm>
            <a:off x="27840388" y="7174940"/>
            <a:ext cx="9274504" cy="11440063"/>
          </a:xfrm>
          <a:prstGeom prst="rect">
            <a:avLst/>
          </a:prstGeom>
          <a:noFill/>
          <a:ln w="2540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678E1FA-7B0A-6693-7419-ECE3753C6B9A}"/>
              </a:ext>
            </a:extLst>
          </p:cNvPr>
          <p:cNvSpPr txBox="1"/>
          <p:nvPr/>
        </p:nvSpPr>
        <p:spPr>
          <a:xfrm>
            <a:off x="30290219" y="6667109"/>
            <a:ext cx="4374842" cy="1015663"/>
          </a:xfrm>
          <a:prstGeom prst="rect">
            <a:avLst/>
          </a:prstGeom>
          <a:solidFill>
            <a:schemeClr val="bg1"/>
          </a:solidFill>
          <a:ln>
            <a:noFill/>
          </a:ln>
        </p:spPr>
        <p:txBody>
          <a:bodyPr wrap="square" rtlCol="0">
            <a:spAutoFit/>
          </a:bodyPr>
          <a:lstStyle/>
          <a:p>
            <a:pPr algn="ctr" rtl="0" fontAlgn="base"/>
            <a:r>
              <a:rPr lang="en-US" sz="6000" b="1" dirty="0">
                <a:solidFill>
                  <a:srgbClr val="000000"/>
                </a:solidFill>
                <a:latin typeface="Yu Gothic UI" panose="020B0500000000000000" pitchFamily="34" charset="-128"/>
                <a:ea typeface="Yu Gothic UI" panose="020B0500000000000000" pitchFamily="34" charset="-128"/>
              </a:rPr>
              <a:t>METHODS</a:t>
            </a:r>
          </a:p>
        </p:txBody>
      </p:sp>
      <p:sp>
        <p:nvSpPr>
          <p:cNvPr id="51" name="TextBox 50">
            <a:extLst>
              <a:ext uri="{FF2B5EF4-FFF2-40B4-BE49-F238E27FC236}">
                <a16:creationId xmlns:a16="http://schemas.microsoft.com/office/drawing/2014/main" id="{324C7A51-584D-4735-A788-4F0A1250509C}"/>
              </a:ext>
            </a:extLst>
          </p:cNvPr>
          <p:cNvSpPr txBox="1"/>
          <p:nvPr/>
        </p:nvSpPr>
        <p:spPr>
          <a:xfrm>
            <a:off x="1187087" y="36591100"/>
            <a:ext cx="12943280" cy="5693866"/>
          </a:xfrm>
          <a:prstGeom prst="rect">
            <a:avLst/>
          </a:prstGeom>
          <a:noFill/>
          <a:ln>
            <a:noFill/>
          </a:ln>
        </p:spPr>
        <p:txBody>
          <a:bodyPr wrap="square" rtlCol="0">
            <a:spAutoFit/>
          </a:bodyPr>
          <a:lstStyle/>
          <a:p>
            <a:r>
              <a:rPr lang="en-US" sz="2800" dirty="0">
                <a:latin typeface="Yu Gothic UI" panose="020B0500000000000000" pitchFamily="34" charset="-128"/>
                <a:ea typeface="Yu Gothic UI" panose="020B0500000000000000" pitchFamily="34" charset="-128"/>
                <a:cs typeface="Times New Roman" panose="02020603050405020304" pitchFamily="18" charset="0"/>
              </a:rPr>
              <a:t>Right whales are detectable in the Southeast US, on both instruments like gilders and buoys with real-time capabilities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5) </a:t>
            </a:r>
            <a:r>
              <a:rPr lang="en-US" sz="2800" dirty="0">
                <a:latin typeface="Yu Gothic UI" panose="020B0500000000000000" pitchFamily="34" charset="-128"/>
                <a:ea typeface="Yu Gothic UI" panose="020B0500000000000000" pitchFamily="34" charset="-128"/>
                <a:cs typeface="Times New Roman" panose="02020603050405020304" pitchFamily="18" charset="0"/>
              </a:rPr>
              <a:t>and instruments like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soundtraps</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that only provide archival data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6)</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Real-time detections consistently line up with archival detections, as seen in the green boxes of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5</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However, the real time protocol requires three upcalls in a period to trigger a detection, so many days where whales were detected on archival 1-2 times are not considered detected on real time.  The comparison be tween real-time and archival detections can be seen in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7</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where the glider and GASV buoy were used as a real-time proxy for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soundtraps</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In general, the VANF buoy was the most effective at detecting right whale calls, but strictly within the bounds of the SEUS, the shallow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soundtraps</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and gliders are most effective, particularly since the GASV buoy detected no right whale calls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8)</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NARW detection efficiency decreases as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depth increases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8)</a:t>
            </a:r>
            <a:r>
              <a:rPr lang="en-US" sz="2800" dirty="0">
                <a:latin typeface="Yu Gothic UI" panose="020B0500000000000000" pitchFamily="34" charset="-128"/>
                <a:ea typeface="Yu Gothic UI" panose="020B0500000000000000" pitchFamily="34" charset="-128"/>
                <a:cs typeface="Times New Roman" panose="02020603050405020304" pitchFamily="18" charset="0"/>
              </a:rPr>
              <a:t>.</a:t>
            </a:r>
          </a:p>
        </p:txBody>
      </p:sp>
      <p:sp>
        <p:nvSpPr>
          <p:cNvPr id="52" name="Rectangle 51">
            <a:extLst>
              <a:ext uri="{FF2B5EF4-FFF2-40B4-BE49-F238E27FC236}">
                <a16:creationId xmlns:a16="http://schemas.microsoft.com/office/drawing/2014/main" id="{D7C37E72-B497-3558-BB4B-C7883246B492}"/>
              </a:ext>
            </a:extLst>
          </p:cNvPr>
          <p:cNvSpPr/>
          <p:nvPr/>
        </p:nvSpPr>
        <p:spPr>
          <a:xfrm>
            <a:off x="954628" y="36199262"/>
            <a:ext cx="13456358" cy="6459280"/>
          </a:xfrm>
          <a:prstGeom prst="rect">
            <a:avLst/>
          </a:prstGeom>
          <a:noFill/>
          <a:ln w="2540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D3F5546-843F-51AF-3F62-77EB7E2FF3BE}"/>
              </a:ext>
            </a:extLst>
          </p:cNvPr>
          <p:cNvSpPr txBox="1"/>
          <p:nvPr/>
        </p:nvSpPr>
        <p:spPr>
          <a:xfrm>
            <a:off x="6047582" y="35676551"/>
            <a:ext cx="3505278" cy="1015663"/>
          </a:xfrm>
          <a:prstGeom prst="rect">
            <a:avLst/>
          </a:prstGeom>
          <a:solidFill>
            <a:schemeClr val="bg1"/>
          </a:solidFill>
          <a:ln>
            <a:noFill/>
          </a:ln>
        </p:spPr>
        <p:txBody>
          <a:bodyPr wrap="square" rtlCol="0">
            <a:spAutoFit/>
          </a:bodyPr>
          <a:lstStyle/>
          <a:p>
            <a:pPr algn="ctr" rtl="0" fontAlgn="base"/>
            <a:r>
              <a:rPr lang="en-US" sz="6000" b="1" dirty="0">
                <a:solidFill>
                  <a:srgbClr val="000000"/>
                </a:solidFill>
                <a:latin typeface="Yu Gothic UI" panose="020B0500000000000000" pitchFamily="34" charset="-128"/>
                <a:ea typeface="Yu Gothic UI" panose="020B0500000000000000" pitchFamily="34" charset="-128"/>
              </a:rPr>
              <a:t>RESULTS</a:t>
            </a:r>
          </a:p>
        </p:txBody>
      </p:sp>
      <p:sp>
        <p:nvSpPr>
          <p:cNvPr id="13" name="Rectangle 12">
            <a:extLst>
              <a:ext uri="{FF2B5EF4-FFF2-40B4-BE49-F238E27FC236}">
                <a16:creationId xmlns:a16="http://schemas.microsoft.com/office/drawing/2014/main" id="{E6EF5D9A-D8D1-4245-38E3-BC544DDCDBD9}"/>
              </a:ext>
            </a:extLst>
          </p:cNvPr>
          <p:cNvSpPr/>
          <p:nvPr/>
        </p:nvSpPr>
        <p:spPr>
          <a:xfrm>
            <a:off x="15815242" y="39171715"/>
            <a:ext cx="10712518" cy="3545192"/>
          </a:xfrm>
          <a:prstGeom prst="rect">
            <a:avLst/>
          </a:prstGeom>
          <a:noFill/>
          <a:ln w="2540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2600FF-43F9-06D5-44D3-361199F0DE53}"/>
              </a:ext>
            </a:extLst>
          </p:cNvPr>
          <p:cNvSpPr txBox="1"/>
          <p:nvPr/>
        </p:nvSpPr>
        <p:spPr>
          <a:xfrm>
            <a:off x="18451101" y="38664515"/>
            <a:ext cx="5405621" cy="1015663"/>
          </a:xfrm>
          <a:prstGeom prst="rect">
            <a:avLst/>
          </a:prstGeom>
          <a:solidFill>
            <a:schemeClr val="bg1"/>
          </a:solidFill>
          <a:ln>
            <a:noFill/>
          </a:ln>
        </p:spPr>
        <p:txBody>
          <a:bodyPr wrap="square" rtlCol="0">
            <a:spAutoFit/>
          </a:bodyPr>
          <a:lstStyle/>
          <a:p>
            <a:pPr algn="ctr" rtl="0" fontAlgn="base"/>
            <a:r>
              <a:rPr lang="en-US" sz="6000" b="1" dirty="0">
                <a:solidFill>
                  <a:srgbClr val="000000"/>
                </a:solidFill>
                <a:latin typeface="Yu Gothic UI" panose="020B0500000000000000" pitchFamily="34" charset="-128"/>
                <a:ea typeface="Yu Gothic UI" panose="020B0500000000000000" pitchFamily="34" charset="-128"/>
              </a:rPr>
              <a:t>OTHER NOISE</a:t>
            </a:r>
          </a:p>
        </p:txBody>
      </p:sp>
      <p:sp>
        <p:nvSpPr>
          <p:cNvPr id="42" name="Rectangle 41">
            <a:extLst>
              <a:ext uri="{FF2B5EF4-FFF2-40B4-BE49-F238E27FC236}">
                <a16:creationId xmlns:a16="http://schemas.microsoft.com/office/drawing/2014/main" id="{CB0A4B07-D3F9-B8AF-B727-C14295C57035}"/>
              </a:ext>
            </a:extLst>
          </p:cNvPr>
          <p:cNvSpPr/>
          <p:nvPr/>
        </p:nvSpPr>
        <p:spPr>
          <a:xfrm>
            <a:off x="27647609" y="36836176"/>
            <a:ext cx="9274504" cy="5822366"/>
          </a:xfrm>
          <a:prstGeom prst="rect">
            <a:avLst/>
          </a:prstGeom>
          <a:noFill/>
          <a:ln w="2540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47304D5-C266-C53C-2F38-136E2B9F636E}"/>
              </a:ext>
            </a:extLst>
          </p:cNvPr>
          <p:cNvSpPr txBox="1"/>
          <p:nvPr/>
        </p:nvSpPr>
        <p:spPr>
          <a:xfrm>
            <a:off x="28039061" y="36222045"/>
            <a:ext cx="8489403" cy="1015663"/>
          </a:xfrm>
          <a:prstGeom prst="rect">
            <a:avLst/>
          </a:prstGeom>
          <a:solidFill>
            <a:schemeClr val="bg1"/>
          </a:solidFill>
          <a:ln>
            <a:noFill/>
          </a:ln>
        </p:spPr>
        <p:txBody>
          <a:bodyPr wrap="square" rtlCol="0">
            <a:spAutoFit/>
          </a:bodyPr>
          <a:lstStyle/>
          <a:p>
            <a:pPr algn="ctr" rtl="0" fontAlgn="base"/>
            <a:r>
              <a:rPr lang="en-US" sz="6000" b="1" dirty="0">
                <a:solidFill>
                  <a:srgbClr val="000000"/>
                </a:solidFill>
                <a:latin typeface="Yu Gothic UI" panose="020B0500000000000000" pitchFamily="34" charset="-128"/>
                <a:ea typeface="Yu Gothic UI" panose="020B0500000000000000" pitchFamily="34" charset="-128"/>
              </a:rPr>
              <a:t>ACKNOWLEDGEMENTS</a:t>
            </a:r>
          </a:p>
        </p:txBody>
      </p:sp>
      <p:pic>
        <p:nvPicPr>
          <p:cNvPr id="22" name="Picture 21">
            <a:extLst>
              <a:ext uri="{FF2B5EF4-FFF2-40B4-BE49-F238E27FC236}">
                <a16:creationId xmlns:a16="http://schemas.microsoft.com/office/drawing/2014/main" id="{000DEDBD-B4D0-F201-1B23-347D1324545D}"/>
              </a:ext>
            </a:extLst>
          </p:cNvPr>
          <p:cNvPicPr>
            <a:picLocks noChangeAspect="1"/>
          </p:cNvPicPr>
          <p:nvPr/>
        </p:nvPicPr>
        <p:blipFill>
          <a:blip r:embed="rId4"/>
          <a:stretch>
            <a:fillRect/>
          </a:stretch>
        </p:blipFill>
        <p:spPr>
          <a:xfrm>
            <a:off x="551813" y="20856969"/>
            <a:ext cx="14680157" cy="5708579"/>
          </a:xfrm>
          <a:prstGeom prst="rect">
            <a:avLst/>
          </a:prstGeom>
        </p:spPr>
      </p:pic>
      <p:pic>
        <p:nvPicPr>
          <p:cNvPr id="62" name="Picture 61">
            <a:extLst>
              <a:ext uri="{FF2B5EF4-FFF2-40B4-BE49-F238E27FC236}">
                <a16:creationId xmlns:a16="http://schemas.microsoft.com/office/drawing/2014/main" id="{731339DE-180A-A22E-D54C-9718D50CF106}"/>
              </a:ext>
            </a:extLst>
          </p:cNvPr>
          <p:cNvPicPr>
            <a:picLocks noChangeAspect="1"/>
          </p:cNvPicPr>
          <p:nvPr/>
        </p:nvPicPr>
        <p:blipFill>
          <a:blip r:embed="rId5"/>
          <a:stretch>
            <a:fillRect/>
          </a:stretch>
        </p:blipFill>
        <p:spPr>
          <a:xfrm>
            <a:off x="20792452" y="7132051"/>
            <a:ext cx="7859722" cy="7954875"/>
          </a:xfrm>
          <a:prstGeom prst="rect">
            <a:avLst/>
          </a:prstGeom>
        </p:spPr>
      </p:pic>
      <p:pic>
        <p:nvPicPr>
          <p:cNvPr id="14" name="Picture 13">
            <a:extLst>
              <a:ext uri="{FF2B5EF4-FFF2-40B4-BE49-F238E27FC236}">
                <a16:creationId xmlns:a16="http://schemas.microsoft.com/office/drawing/2014/main" id="{630B3610-DDBE-2C9E-17F0-DAD59095F03D}"/>
              </a:ext>
            </a:extLst>
          </p:cNvPr>
          <p:cNvPicPr>
            <a:picLocks noChangeAspect="1"/>
          </p:cNvPicPr>
          <p:nvPr/>
        </p:nvPicPr>
        <p:blipFill>
          <a:blip r:embed="rId6"/>
          <a:srcRect b="4985"/>
          <a:stretch>
            <a:fillRect/>
          </a:stretch>
        </p:blipFill>
        <p:spPr>
          <a:xfrm>
            <a:off x="15353140" y="17000923"/>
            <a:ext cx="11846395" cy="8179217"/>
          </a:xfrm>
          <a:prstGeom prst="rect">
            <a:avLst/>
          </a:prstGeom>
        </p:spPr>
      </p:pic>
      <p:pic>
        <p:nvPicPr>
          <p:cNvPr id="15" name="Picture 14">
            <a:extLst>
              <a:ext uri="{FF2B5EF4-FFF2-40B4-BE49-F238E27FC236}">
                <a16:creationId xmlns:a16="http://schemas.microsoft.com/office/drawing/2014/main" id="{7755CE97-DE55-222A-05E2-824F1B2025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25431" y="18831967"/>
            <a:ext cx="10231008" cy="4857966"/>
          </a:xfrm>
          <a:prstGeom prst="rect">
            <a:avLst/>
          </a:prstGeom>
        </p:spPr>
      </p:pic>
      <p:sp>
        <p:nvSpPr>
          <p:cNvPr id="16" name="Text Box 8">
            <a:extLst>
              <a:ext uri="{FF2B5EF4-FFF2-40B4-BE49-F238E27FC236}">
                <a16:creationId xmlns:a16="http://schemas.microsoft.com/office/drawing/2014/main" id="{678FE92B-119D-13CB-80CE-17F08C3E6A79}"/>
              </a:ext>
            </a:extLst>
          </p:cNvPr>
          <p:cNvSpPr txBox="1"/>
          <p:nvPr/>
        </p:nvSpPr>
        <p:spPr>
          <a:xfrm>
            <a:off x="28102854" y="23766278"/>
            <a:ext cx="9703601" cy="1263393"/>
          </a:xfrm>
          <a:prstGeom prst="rect">
            <a:avLst/>
          </a:prstGeom>
          <a:no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44" b="1" dirty="0">
                <a:latin typeface="Yu Gothic UI" panose="020B0500000000000000" pitchFamily="34" charset="-128"/>
                <a:ea typeface="Yu Gothic UI" panose="020B0500000000000000" pitchFamily="34" charset="-128"/>
                <a:cs typeface="Times New Roman" panose="02020603050405020304" pitchFamily="18" charset="0"/>
              </a:rPr>
              <a:t>Figure 4.</a:t>
            </a:r>
            <a:r>
              <a:rPr lang="en-US" sz="2844" dirty="0">
                <a:latin typeface="Yu Gothic UI" panose="020B0500000000000000" pitchFamily="34" charset="-128"/>
                <a:ea typeface="Yu Gothic UI" panose="020B0500000000000000" pitchFamily="34" charset="-128"/>
                <a:cs typeface="Times New Roman" panose="02020603050405020304" pitchFamily="18" charset="0"/>
              </a:rPr>
              <a:t> Example glider noise plot showing 4-hour surfacing intervals (noisier bands shown in orange/red).</a:t>
            </a:r>
          </a:p>
        </p:txBody>
      </p:sp>
      <p:pic>
        <p:nvPicPr>
          <p:cNvPr id="19" name="Picture 18">
            <a:extLst>
              <a:ext uri="{FF2B5EF4-FFF2-40B4-BE49-F238E27FC236}">
                <a16:creationId xmlns:a16="http://schemas.microsoft.com/office/drawing/2014/main" id="{CBD5376D-871F-3836-A6A0-3E5208DE3C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823476" y="29655027"/>
            <a:ext cx="9631645" cy="4573372"/>
          </a:xfrm>
          <a:prstGeom prst="rect">
            <a:avLst/>
          </a:prstGeom>
        </p:spPr>
      </p:pic>
      <p:pic>
        <p:nvPicPr>
          <p:cNvPr id="23" name="Picture 22">
            <a:extLst>
              <a:ext uri="{FF2B5EF4-FFF2-40B4-BE49-F238E27FC236}">
                <a16:creationId xmlns:a16="http://schemas.microsoft.com/office/drawing/2014/main" id="{B9621B25-B512-D34C-0912-8BDD50AAE8B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5501" y="26450771"/>
            <a:ext cx="14656469" cy="3256993"/>
          </a:xfrm>
          <a:prstGeom prst="rect">
            <a:avLst/>
          </a:prstGeom>
        </p:spPr>
      </p:pic>
      <p:pic>
        <p:nvPicPr>
          <p:cNvPr id="32" name="Picture 31">
            <a:extLst>
              <a:ext uri="{FF2B5EF4-FFF2-40B4-BE49-F238E27FC236}">
                <a16:creationId xmlns:a16="http://schemas.microsoft.com/office/drawing/2014/main" id="{E6A269A2-0F3F-962D-36DE-815BD56DE3CC}"/>
              </a:ext>
            </a:extLst>
          </p:cNvPr>
          <p:cNvPicPr>
            <a:picLocks noChangeAspect="1"/>
          </p:cNvPicPr>
          <p:nvPr/>
        </p:nvPicPr>
        <p:blipFill>
          <a:blip r:embed="rId10"/>
          <a:stretch>
            <a:fillRect/>
          </a:stretch>
        </p:blipFill>
        <p:spPr>
          <a:xfrm>
            <a:off x="7637362" y="31148459"/>
            <a:ext cx="6841999" cy="3610109"/>
          </a:xfrm>
          <a:prstGeom prst="rect">
            <a:avLst/>
          </a:prstGeom>
        </p:spPr>
      </p:pic>
      <p:pic>
        <p:nvPicPr>
          <p:cNvPr id="35" name="Picture 34">
            <a:extLst>
              <a:ext uri="{FF2B5EF4-FFF2-40B4-BE49-F238E27FC236}">
                <a16:creationId xmlns:a16="http://schemas.microsoft.com/office/drawing/2014/main" id="{4666872D-2447-692A-EEDC-D1B185491B1E}"/>
              </a:ext>
            </a:extLst>
          </p:cNvPr>
          <p:cNvPicPr>
            <a:picLocks noChangeAspect="1"/>
          </p:cNvPicPr>
          <p:nvPr/>
        </p:nvPicPr>
        <p:blipFill>
          <a:blip r:embed="rId11"/>
          <a:stretch>
            <a:fillRect/>
          </a:stretch>
        </p:blipFill>
        <p:spPr>
          <a:xfrm>
            <a:off x="1000076" y="31071413"/>
            <a:ext cx="6252929" cy="3687154"/>
          </a:xfrm>
          <a:prstGeom prst="rect">
            <a:avLst/>
          </a:prstGeom>
        </p:spPr>
      </p:pic>
      <p:sp>
        <p:nvSpPr>
          <p:cNvPr id="36" name="Text Box 8">
            <a:extLst>
              <a:ext uri="{FF2B5EF4-FFF2-40B4-BE49-F238E27FC236}">
                <a16:creationId xmlns:a16="http://schemas.microsoft.com/office/drawing/2014/main" id="{49DA45FF-AE65-3BFE-201C-B308A1A84B7A}"/>
              </a:ext>
            </a:extLst>
          </p:cNvPr>
          <p:cNvSpPr txBox="1"/>
          <p:nvPr/>
        </p:nvSpPr>
        <p:spPr>
          <a:xfrm>
            <a:off x="1261621" y="29665693"/>
            <a:ext cx="13077203" cy="1263393"/>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Figures 5 &amp; 6.</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Real-time detections compared to archival detections (above). Days that line up well are boxed in green, days with insufficient triggers to trip real-time protocol are boxed in black. Archival only detections on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soundtraps</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(bottom).</a:t>
            </a:r>
          </a:p>
        </p:txBody>
      </p:sp>
      <p:sp>
        <p:nvSpPr>
          <p:cNvPr id="37" name="Text Box 8">
            <a:extLst>
              <a:ext uri="{FF2B5EF4-FFF2-40B4-BE49-F238E27FC236}">
                <a16:creationId xmlns:a16="http://schemas.microsoft.com/office/drawing/2014/main" id="{82F28041-5D3A-3C52-1EB9-620AEE696BD7}"/>
              </a:ext>
            </a:extLst>
          </p:cNvPr>
          <p:cNvSpPr txBox="1"/>
          <p:nvPr/>
        </p:nvSpPr>
        <p:spPr>
          <a:xfrm>
            <a:off x="1272776" y="34663522"/>
            <a:ext cx="13077203" cy="1263393"/>
          </a:xfrm>
          <a:prstGeom prst="rect">
            <a:avLst/>
          </a:prstGeom>
          <a:no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Figures 7 &amp; 8.</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a:t>
            </a:r>
            <a:r>
              <a:rPr lang="en-US" sz="2800" dirty="0">
                <a:latin typeface="Yu Gothic UI" panose="020B0500000000000000" pitchFamily="34" charset="-128"/>
                <a:ea typeface="Yu Gothic UI" panose="020B0500000000000000" pitchFamily="34" charset="-128"/>
                <a:cs typeface="CMU Serif" panose="02000603000000000000" pitchFamily="50" charset="0"/>
              </a:rPr>
              <a:t>Alignment of archival and real-time detections by instrument </a:t>
            </a:r>
            <a:r>
              <a:rPr lang="en-US" sz="2800" dirty="0">
                <a:latin typeface="Yu Gothic UI" panose="020B0500000000000000" pitchFamily="34" charset="-128"/>
                <a:ea typeface="Yu Gothic UI" panose="020B0500000000000000" pitchFamily="34" charset="-128"/>
                <a:cs typeface="Times New Roman" panose="02020603050405020304" pitchFamily="18" charset="0"/>
              </a:rPr>
              <a:t>(left). </a:t>
            </a:r>
            <a:r>
              <a:rPr lang="en-US" sz="2800" dirty="0">
                <a:latin typeface="Yu Gothic UI" panose="020B0500000000000000" pitchFamily="34" charset="-128"/>
                <a:ea typeface="Yu Gothic UI" panose="020B0500000000000000" pitchFamily="34" charset="-128"/>
                <a:cs typeface="CMU Serif" panose="02000603000000000000" pitchFamily="50" charset="0"/>
              </a:rPr>
              <a:t>Days with calls scaled by listening days (right).</a:t>
            </a:r>
          </a:p>
          <a:p>
            <a:endParaRPr lang="en-US" sz="2800" dirty="0">
              <a:latin typeface="Yu Gothic UI" panose="020B0500000000000000" pitchFamily="34" charset="-128"/>
              <a:ea typeface="Yu Gothic UI" panose="020B0500000000000000" pitchFamily="34" charset="-128"/>
              <a:cs typeface="Times New Roman" panose="02020603050405020304" pitchFamily="18" charset="0"/>
            </a:endParaRPr>
          </a:p>
        </p:txBody>
      </p:sp>
      <p:pic>
        <p:nvPicPr>
          <p:cNvPr id="54" name="Picture 53">
            <a:extLst>
              <a:ext uri="{FF2B5EF4-FFF2-40B4-BE49-F238E27FC236}">
                <a16:creationId xmlns:a16="http://schemas.microsoft.com/office/drawing/2014/main" id="{1C0A1E0E-6CE0-B159-D0CF-1CB45BBB1F34}"/>
              </a:ext>
            </a:extLst>
          </p:cNvPr>
          <p:cNvPicPr>
            <a:picLocks noChangeAspect="1"/>
          </p:cNvPicPr>
          <p:nvPr/>
        </p:nvPicPr>
        <p:blipFill>
          <a:blip r:embed="rId12"/>
          <a:stretch>
            <a:fillRect/>
          </a:stretch>
        </p:blipFill>
        <p:spPr>
          <a:xfrm>
            <a:off x="15334508" y="31618545"/>
            <a:ext cx="12192118" cy="5788485"/>
          </a:xfrm>
          <a:prstGeom prst="rect">
            <a:avLst/>
          </a:prstGeom>
        </p:spPr>
      </p:pic>
      <p:pic>
        <p:nvPicPr>
          <p:cNvPr id="56" name="Picture 55">
            <a:extLst>
              <a:ext uri="{FF2B5EF4-FFF2-40B4-BE49-F238E27FC236}">
                <a16:creationId xmlns:a16="http://schemas.microsoft.com/office/drawing/2014/main" id="{EBE12DAF-B238-B9B5-B1FF-43C9108A6DA3}"/>
              </a:ext>
            </a:extLst>
          </p:cNvPr>
          <p:cNvPicPr>
            <a:picLocks noChangeAspect="1"/>
          </p:cNvPicPr>
          <p:nvPr/>
        </p:nvPicPr>
        <p:blipFill>
          <a:blip r:embed="rId13"/>
          <a:stretch>
            <a:fillRect/>
          </a:stretch>
        </p:blipFill>
        <p:spPr>
          <a:xfrm>
            <a:off x="15377392" y="26479277"/>
            <a:ext cx="12192118" cy="5788485"/>
          </a:xfrm>
          <a:prstGeom prst="rect">
            <a:avLst/>
          </a:prstGeom>
        </p:spPr>
      </p:pic>
      <p:pic>
        <p:nvPicPr>
          <p:cNvPr id="17" name="Picture 16">
            <a:extLst>
              <a:ext uri="{FF2B5EF4-FFF2-40B4-BE49-F238E27FC236}">
                <a16:creationId xmlns:a16="http://schemas.microsoft.com/office/drawing/2014/main" id="{706F3CFD-6A01-9159-8F2E-FD3940F07ED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825113" y="25029670"/>
            <a:ext cx="9631645" cy="4573372"/>
          </a:xfrm>
          <a:prstGeom prst="rect">
            <a:avLst/>
          </a:prstGeom>
        </p:spPr>
      </p:pic>
      <p:sp>
        <p:nvSpPr>
          <p:cNvPr id="57" name="Text Box 8">
            <a:extLst>
              <a:ext uri="{FF2B5EF4-FFF2-40B4-BE49-F238E27FC236}">
                <a16:creationId xmlns:a16="http://schemas.microsoft.com/office/drawing/2014/main" id="{EBE52A9A-FE85-20EB-2883-E7CF1232F390}"/>
              </a:ext>
            </a:extLst>
          </p:cNvPr>
          <p:cNvSpPr txBox="1"/>
          <p:nvPr/>
        </p:nvSpPr>
        <p:spPr>
          <a:xfrm>
            <a:off x="15718890" y="37361611"/>
            <a:ext cx="11419281" cy="1263393"/>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44" b="1" dirty="0">
                <a:latin typeface="Yu Gothic UI" panose="020B0500000000000000" pitchFamily="34" charset="-128"/>
                <a:ea typeface="Yu Gothic UI" panose="020B0500000000000000" pitchFamily="34" charset="-128"/>
                <a:cs typeface="Times New Roman" panose="02020603050405020304" pitchFamily="18" charset="0"/>
              </a:rPr>
              <a:t>Figures 9 &amp; 10. </a:t>
            </a:r>
            <a:r>
              <a:rPr lang="en-US" sz="2844" dirty="0">
                <a:latin typeface="Yu Gothic UI" panose="020B0500000000000000" pitchFamily="34" charset="-128"/>
                <a:ea typeface="Yu Gothic UI" panose="020B0500000000000000" pitchFamily="34" charset="-128"/>
                <a:cs typeface="Times New Roman" panose="02020603050405020304" pitchFamily="18" charset="0"/>
              </a:rPr>
              <a:t>2024 Norfolk buoy noise levels with particularly noisy hours boxed in red (above).  2024 Norfolk nearest ship distance to buoy, with the same noisy times as above boxed in the yellow (below).</a:t>
            </a:r>
          </a:p>
        </p:txBody>
      </p:sp>
      <p:sp>
        <p:nvSpPr>
          <p:cNvPr id="58" name="Text Box 8">
            <a:extLst>
              <a:ext uri="{FF2B5EF4-FFF2-40B4-BE49-F238E27FC236}">
                <a16:creationId xmlns:a16="http://schemas.microsoft.com/office/drawing/2014/main" id="{3943D37F-478D-FF63-E811-C08C73AEE6F3}"/>
              </a:ext>
            </a:extLst>
          </p:cNvPr>
          <p:cNvSpPr txBox="1"/>
          <p:nvPr/>
        </p:nvSpPr>
        <p:spPr>
          <a:xfrm>
            <a:off x="28039061" y="34371875"/>
            <a:ext cx="8883053" cy="1263393"/>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en-US" sz="2844" b="1" dirty="0">
                <a:latin typeface="Yu Gothic UI" panose="020B0500000000000000" pitchFamily="34" charset="-128"/>
                <a:ea typeface="Yu Gothic UI" panose="020B0500000000000000" pitchFamily="34" charset="-128"/>
                <a:cs typeface="Times New Roman" panose="02020603050405020304" pitchFamily="18" charset="0"/>
              </a:rPr>
              <a:t>Figures 11 &amp; 12. </a:t>
            </a:r>
            <a:r>
              <a:rPr lang="en-US" sz="2844" dirty="0">
                <a:latin typeface="Yu Gothic UI" panose="020B0500000000000000" pitchFamily="34" charset="-128"/>
                <a:ea typeface="Yu Gothic UI" panose="020B0500000000000000" pitchFamily="34" charset="-128"/>
                <a:cs typeface="Times New Roman" panose="02020603050405020304" pitchFamily="18" charset="0"/>
              </a:rPr>
              <a:t>2023 shallow </a:t>
            </a:r>
            <a:r>
              <a:rPr lang="en-US" sz="2844" dirty="0" err="1">
                <a:latin typeface="Yu Gothic UI" panose="020B0500000000000000" pitchFamily="34" charset="-128"/>
                <a:ea typeface="Yu Gothic UI" panose="020B0500000000000000" pitchFamily="34" charset="-128"/>
                <a:cs typeface="Times New Roman" panose="02020603050405020304" pitchFamily="18" charset="0"/>
              </a:rPr>
              <a:t>soundtrap</a:t>
            </a:r>
            <a:r>
              <a:rPr lang="en-US" sz="2844" dirty="0">
                <a:latin typeface="Yu Gothic UI" panose="020B0500000000000000" pitchFamily="34" charset="-128"/>
                <a:ea typeface="Yu Gothic UI" panose="020B0500000000000000" pitchFamily="34" charset="-128"/>
                <a:cs typeface="Times New Roman" panose="02020603050405020304" pitchFamily="18" charset="0"/>
              </a:rPr>
              <a:t> noise levels with loud black drum chorusing near the new moon (above).  2023 deep </a:t>
            </a:r>
            <a:r>
              <a:rPr lang="en-US" sz="2844" dirty="0" err="1">
                <a:latin typeface="Yu Gothic UI" panose="020B0500000000000000" pitchFamily="34" charset="-128"/>
                <a:ea typeface="Yu Gothic UI" panose="020B0500000000000000" pitchFamily="34" charset="-128"/>
                <a:cs typeface="Times New Roman" panose="02020603050405020304" pitchFamily="18" charset="0"/>
              </a:rPr>
              <a:t>soundtrap</a:t>
            </a:r>
            <a:r>
              <a:rPr lang="en-US" sz="2844" dirty="0">
                <a:latin typeface="Yu Gothic UI" panose="020B0500000000000000" pitchFamily="34" charset="-128"/>
                <a:ea typeface="Yu Gothic UI" panose="020B0500000000000000" pitchFamily="34" charset="-128"/>
                <a:cs typeface="Times New Roman" panose="02020603050405020304" pitchFamily="18" charset="0"/>
              </a:rPr>
              <a:t> catfish chorusing near dawn and dusk (below).</a:t>
            </a:r>
          </a:p>
        </p:txBody>
      </p:sp>
      <p:sp>
        <p:nvSpPr>
          <p:cNvPr id="59" name="TextBox 58">
            <a:extLst>
              <a:ext uri="{FF2B5EF4-FFF2-40B4-BE49-F238E27FC236}">
                <a16:creationId xmlns:a16="http://schemas.microsoft.com/office/drawing/2014/main" id="{D58A753B-DADD-D7BA-E80B-55E711334ECF}"/>
              </a:ext>
            </a:extLst>
          </p:cNvPr>
          <p:cNvSpPr txBox="1"/>
          <p:nvPr/>
        </p:nvSpPr>
        <p:spPr>
          <a:xfrm>
            <a:off x="16079588" y="39474800"/>
            <a:ext cx="10333873" cy="3108543"/>
          </a:xfrm>
          <a:prstGeom prst="rect">
            <a:avLst/>
          </a:prstGeom>
          <a:noFill/>
          <a:ln>
            <a:noFill/>
          </a:ln>
        </p:spPr>
        <p:txBody>
          <a:bodyPr wrap="square" rtlCol="0">
            <a:spAutoFit/>
          </a:bodyPr>
          <a:lstStyle/>
          <a:p>
            <a:r>
              <a:rPr lang="en-US" sz="2800" dirty="0">
                <a:latin typeface="Yu Gothic UI" panose="020B0500000000000000" pitchFamily="34" charset="-128"/>
                <a:ea typeface="Yu Gothic UI" panose="020B0500000000000000" pitchFamily="34" charset="-128"/>
                <a:cs typeface="Times New Roman" panose="02020603050405020304" pitchFamily="18" charset="0"/>
              </a:rPr>
              <a:t>On different instruments, different sources of noise tend to interfere with right whale detections.  On buoys, which are placed in shipping lanes, nearby ships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10)</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cause loud patches of noise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9)</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where right whale calls are over shadowed.  On </a:t>
            </a:r>
            <a:r>
              <a:rPr lang="en-US" sz="2800" dirty="0" err="1">
                <a:latin typeface="Yu Gothic UI" panose="020B0500000000000000" pitchFamily="34" charset="-128"/>
                <a:ea typeface="Yu Gothic UI" panose="020B0500000000000000" pitchFamily="34" charset="-128"/>
                <a:cs typeface="Times New Roman" panose="02020603050405020304" pitchFamily="18" charset="0"/>
              </a:rPr>
              <a:t>soundtraps</a:t>
            </a:r>
            <a:r>
              <a:rPr lang="en-US" sz="2800" dirty="0">
                <a:latin typeface="Yu Gothic UI" panose="020B0500000000000000" pitchFamily="34" charset="-128"/>
                <a:ea typeface="Yu Gothic UI" panose="020B0500000000000000" pitchFamily="34" charset="-128"/>
                <a:cs typeface="Times New Roman" panose="02020603050405020304" pitchFamily="18" charset="0"/>
              </a:rPr>
              <a:t>, fish have been seen loudly chorusing based on environmental patterns like the lunar cycle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11) </a:t>
            </a:r>
            <a:r>
              <a:rPr lang="en-US" sz="2800" dirty="0">
                <a:latin typeface="Yu Gothic UI" panose="020B0500000000000000" pitchFamily="34" charset="-128"/>
                <a:ea typeface="Yu Gothic UI" panose="020B0500000000000000" pitchFamily="34" charset="-128"/>
                <a:cs typeface="Times New Roman" panose="02020603050405020304" pitchFamily="18" charset="0"/>
              </a:rPr>
              <a:t>and diel patterns </a:t>
            </a:r>
            <a:r>
              <a:rPr lang="en-US" sz="2800" b="1" dirty="0">
                <a:latin typeface="Yu Gothic UI" panose="020B0500000000000000" pitchFamily="34" charset="-128"/>
                <a:ea typeface="Yu Gothic UI" panose="020B0500000000000000" pitchFamily="34" charset="-128"/>
                <a:cs typeface="Times New Roman" panose="02020603050405020304" pitchFamily="18" charset="0"/>
              </a:rPr>
              <a:t>(Fig. 12)</a:t>
            </a:r>
            <a:r>
              <a:rPr lang="en-US" sz="2800" dirty="0">
                <a:latin typeface="Yu Gothic UI" panose="020B0500000000000000" pitchFamily="34" charset="-128"/>
                <a:ea typeface="Yu Gothic UI" panose="020B0500000000000000" pitchFamily="34" charset="-128"/>
                <a:cs typeface="Times New Roman" panose="02020603050405020304" pitchFamily="18" charset="0"/>
              </a:rPr>
              <a:t>.</a:t>
            </a:r>
          </a:p>
        </p:txBody>
      </p:sp>
      <p:pic>
        <p:nvPicPr>
          <p:cNvPr id="4" name="Picture 3">
            <a:extLst>
              <a:ext uri="{FF2B5EF4-FFF2-40B4-BE49-F238E27FC236}">
                <a16:creationId xmlns:a16="http://schemas.microsoft.com/office/drawing/2014/main" id="{888E1088-DBEB-0855-320B-890732325B0B}"/>
              </a:ext>
            </a:extLst>
          </p:cNvPr>
          <p:cNvPicPr>
            <a:picLocks noChangeAspect="1"/>
          </p:cNvPicPr>
          <p:nvPr/>
        </p:nvPicPr>
        <p:blipFill>
          <a:blip r:embed="rId15"/>
          <a:srcRect r="19561"/>
          <a:stretch>
            <a:fillRect/>
          </a:stretch>
        </p:blipFill>
        <p:spPr>
          <a:xfrm>
            <a:off x="15355835" y="7080112"/>
            <a:ext cx="6371326" cy="7990451"/>
          </a:xfrm>
          <a:prstGeom prst="rect">
            <a:avLst/>
          </a:prstGeom>
        </p:spPr>
      </p:pic>
    </p:spTree>
    <p:extLst>
      <p:ext uri="{BB962C8B-B14F-4D97-AF65-F5344CB8AC3E}">
        <p14:creationId xmlns:p14="http://schemas.microsoft.com/office/powerpoint/2010/main" val="322788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15593</TotalTime>
  <Words>1267</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Yu Gothic UI</vt:lpstr>
      <vt:lpstr>Arial</vt:lpstr>
      <vt:lpstr>Calibri</vt:lpstr>
      <vt:lpstr>Calibri Light</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Kreuser, Abigail</dc:creator>
  <cp:lastModifiedBy>Remaili, Soraya</cp:lastModifiedBy>
  <cp:revision>76</cp:revision>
  <cp:lastPrinted>2024-02-14T21:47:19Z</cp:lastPrinted>
  <dcterms:created xsi:type="dcterms:W3CDTF">2024-02-07T18:27:24Z</dcterms:created>
  <dcterms:modified xsi:type="dcterms:W3CDTF">2026-05-27T16:09:54Z</dcterms:modified>
</cp:coreProperties>
</file>